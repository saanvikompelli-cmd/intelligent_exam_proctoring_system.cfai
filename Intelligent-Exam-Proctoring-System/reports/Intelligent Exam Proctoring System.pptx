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Lora Bold" charset="1" panose="00000800000000000000"/>
      <p:regular r:id="rId12"/>
    </p:embeddedFont>
    <p:embeddedFont>
      <p:font typeface="Roboto" charset="1" panose="02000000000000000000"/>
      <p:regular r:id="rId13"/>
    </p:embeddedFont>
    <p:embeddedFont>
      <p:font typeface="Roboto Bold" charset="1" panose="02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TextBox 2" id="2"/>
          <p:cNvSpPr txBox="true"/>
          <p:nvPr/>
        </p:nvSpPr>
        <p:spPr>
          <a:xfrm rot="0">
            <a:off x="2861997" y="2093435"/>
            <a:ext cx="12004802" cy="2010708"/>
          </a:xfrm>
          <a:prstGeom prst="rect">
            <a:avLst/>
          </a:prstGeom>
        </p:spPr>
        <p:txBody>
          <a:bodyPr anchor="t" rtlCol="false" tIns="0" lIns="0" bIns="0" rIns="0">
            <a:spAutoFit/>
          </a:bodyPr>
          <a:lstStyle/>
          <a:p>
            <a:pPr algn="l" marL="0" indent="0" lvl="0">
              <a:lnSpc>
                <a:spcPts val="7722"/>
              </a:lnSpc>
            </a:pPr>
            <a:r>
              <a:rPr lang="en-US" b="true" sz="8129">
                <a:gradFill>
                  <a:gsLst>
                    <a:gs pos="0">
                      <a:srgbClr val="5DE0E6">
                        <a:alpha val="100000"/>
                      </a:srgbClr>
                    </a:gs>
                    <a:gs pos="100000">
                      <a:srgbClr val="004AAD">
                        <a:alpha val="100000"/>
                      </a:srgbClr>
                    </a:gs>
                  </a:gsLst>
                  <a:lin ang="0"/>
                </a:gradFill>
                <a:latin typeface="Lora Bold"/>
                <a:ea typeface="Lora Bold"/>
                <a:cs typeface="Lora Bold"/>
                <a:sym typeface="Lora Bold"/>
              </a:rPr>
              <a:t>INTELLIGENT EXAM PROCTORING SYSTEM</a:t>
            </a:r>
          </a:p>
        </p:txBody>
      </p:sp>
      <p:sp>
        <p:nvSpPr>
          <p:cNvPr name="Freeform 3" id="3"/>
          <p:cNvSpPr/>
          <p:nvPr/>
        </p:nvSpPr>
        <p:spPr>
          <a:xfrm flipH="false" flipV="false" rot="934430">
            <a:off x="-3181714" y="5359051"/>
            <a:ext cx="8047880" cy="8132468"/>
          </a:xfrm>
          <a:custGeom>
            <a:avLst/>
            <a:gdLst/>
            <a:ahLst/>
            <a:cxnLst/>
            <a:rect r="r" b="b" t="t" l="l"/>
            <a:pathLst>
              <a:path h="8132468" w="8047880">
                <a:moveTo>
                  <a:pt x="0" y="0"/>
                </a:moveTo>
                <a:lnTo>
                  <a:pt x="8047881" y="0"/>
                </a:lnTo>
                <a:lnTo>
                  <a:pt x="8047881" y="8132468"/>
                </a:lnTo>
                <a:lnTo>
                  <a:pt x="0" y="81324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82485" y="7538373"/>
            <a:ext cx="4139886" cy="2280144"/>
          </a:xfrm>
          <a:custGeom>
            <a:avLst/>
            <a:gdLst/>
            <a:ahLst/>
            <a:cxnLst/>
            <a:rect r="r" b="b" t="t" l="l"/>
            <a:pathLst>
              <a:path h="2280144" w="4139886">
                <a:moveTo>
                  <a:pt x="0" y="0"/>
                </a:moveTo>
                <a:lnTo>
                  <a:pt x="4139886" y="0"/>
                </a:lnTo>
                <a:lnTo>
                  <a:pt x="4139886" y="2280144"/>
                </a:lnTo>
                <a:lnTo>
                  <a:pt x="0" y="22801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8081" y="329980"/>
            <a:ext cx="2633915" cy="2220600"/>
          </a:xfrm>
          <a:custGeom>
            <a:avLst/>
            <a:gdLst/>
            <a:ahLst/>
            <a:cxnLst/>
            <a:rect r="r" b="b" t="t" l="l"/>
            <a:pathLst>
              <a:path h="2220600" w="2633915">
                <a:moveTo>
                  <a:pt x="0" y="0"/>
                </a:moveTo>
                <a:lnTo>
                  <a:pt x="2633916" y="0"/>
                </a:lnTo>
                <a:lnTo>
                  <a:pt x="2633916" y="2220599"/>
                </a:lnTo>
                <a:lnTo>
                  <a:pt x="0" y="2220599"/>
                </a:lnTo>
                <a:lnTo>
                  <a:pt x="0" y="0"/>
                </a:lnTo>
                <a:close/>
              </a:path>
            </a:pathLst>
          </a:custGeom>
          <a:blipFill>
            <a:blip r:embed="rId6"/>
            <a:stretch>
              <a:fillRect l="-337" t="0" r="-337" b="0"/>
            </a:stretch>
          </a:blipFill>
        </p:spPr>
      </p:sp>
      <p:sp>
        <p:nvSpPr>
          <p:cNvPr name="Freeform 6" id="6"/>
          <p:cNvSpPr/>
          <p:nvPr/>
        </p:nvSpPr>
        <p:spPr>
          <a:xfrm flipH="false" flipV="false" rot="0">
            <a:off x="14381228" y="0"/>
            <a:ext cx="3541143" cy="2440606"/>
          </a:xfrm>
          <a:custGeom>
            <a:avLst/>
            <a:gdLst/>
            <a:ahLst/>
            <a:cxnLst/>
            <a:rect r="r" b="b" t="t" l="l"/>
            <a:pathLst>
              <a:path h="2440606" w="3541143">
                <a:moveTo>
                  <a:pt x="0" y="0"/>
                </a:moveTo>
                <a:lnTo>
                  <a:pt x="3541143" y="0"/>
                </a:lnTo>
                <a:lnTo>
                  <a:pt x="3541143" y="2440606"/>
                </a:lnTo>
                <a:lnTo>
                  <a:pt x="0" y="2440606"/>
                </a:lnTo>
                <a:lnTo>
                  <a:pt x="0" y="0"/>
                </a:lnTo>
                <a:close/>
              </a:path>
            </a:pathLst>
          </a:custGeom>
          <a:blipFill>
            <a:blip r:embed="rId7"/>
            <a:stretch>
              <a:fillRect l="0" t="-7845" r="0" b="0"/>
            </a:stretch>
          </a:blipFill>
        </p:spPr>
      </p:sp>
      <p:sp>
        <p:nvSpPr>
          <p:cNvPr name="TextBox 7" id="7"/>
          <p:cNvSpPr txBox="true"/>
          <p:nvPr/>
        </p:nvSpPr>
        <p:spPr>
          <a:xfrm rot="0">
            <a:off x="3057920" y="5128896"/>
            <a:ext cx="14201380" cy="377735"/>
          </a:xfrm>
          <a:prstGeom prst="rect">
            <a:avLst/>
          </a:prstGeom>
        </p:spPr>
        <p:txBody>
          <a:bodyPr anchor="t" rtlCol="false" tIns="0" lIns="0" bIns="0" rIns="0">
            <a:spAutoFit/>
          </a:bodyPr>
          <a:lstStyle/>
          <a:p>
            <a:pPr algn="l" marL="0" indent="0" lvl="0">
              <a:lnSpc>
                <a:spcPts val="2752"/>
              </a:lnSpc>
            </a:pPr>
            <a:r>
              <a:rPr lang="en-US" sz="2897">
                <a:solidFill>
                  <a:srgbClr val="1C74BB"/>
                </a:solidFill>
                <a:latin typeface="Roboto"/>
                <a:ea typeface="Roboto"/>
                <a:cs typeface="Roboto"/>
                <a:sym typeface="Roboto"/>
              </a:rPr>
              <a:t>Course Name: </a:t>
            </a:r>
            <a:r>
              <a:rPr lang="en-US" b="true" sz="2897">
                <a:solidFill>
                  <a:srgbClr val="2D446E"/>
                </a:solidFill>
                <a:latin typeface="Roboto Bold"/>
                <a:ea typeface="Roboto Bold"/>
                <a:cs typeface="Roboto Bold"/>
                <a:sym typeface="Roboto Bold"/>
              </a:rPr>
              <a:t>COMPUTATIONAL FOUNDATIONS FOR ARTIFICIAL INTELLIGENCE</a:t>
            </a:r>
          </a:p>
        </p:txBody>
      </p:sp>
      <p:sp>
        <p:nvSpPr>
          <p:cNvPr name="TextBox 8" id="8"/>
          <p:cNvSpPr txBox="true"/>
          <p:nvPr/>
        </p:nvSpPr>
        <p:spPr>
          <a:xfrm rot="0">
            <a:off x="3057920" y="6798150"/>
            <a:ext cx="8213562" cy="2242707"/>
          </a:xfrm>
          <a:prstGeom prst="rect">
            <a:avLst/>
          </a:prstGeom>
        </p:spPr>
        <p:txBody>
          <a:bodyPr anchor="t" rtlCol="false" tIns="0" lIns="0" bIns="0" rIns="0">
            <a:spAutoFit/>
          </a:bodyPr>
          <a:lstStyle/>
          <a:p>
            <a:pPr algn="l">
              <a:lnSpc>
                <a:spcPts val="3592"/>
              </a:lnSpc>
            </a:pPr>
            <a:r>
              <a:rPr lang="en-US" sz="2897">
                <a:solidFill>
                  <a:srgbClr val="1C74BB"/>
                </a:solidFill>
                <a:latin typeface="Roboto"/>
                <a:ea typeface="Roboto"/>
                <a:cs typeface="Roboto"/>
                <a:sym typeface="Roboto"/>
              </a:rPr>
              <a:t>Team Members:</a:t>
            </a:r>
          </a:p>
          <a:p>
            <a:pPr algn="l">
              <a:lnSpc>
                <a:spcPts val="3592"/>
              </a:lnSpc>
            </a:pPr>
            <a:r>
              <a:rPr lang="en-US" sz="2897" b="true">
                <a:solidFill>
                  <a:srgbClr val="2D446E"/>
                </a:solidFill>
                <a:latin typeface="Roboto Bold"/>
                <a:ea typeface="Roboto Bold"/>
                <a:cs typeface="Roboto Bold"/>
                <a:sym typeface="Roboto Bold"/>
              </a:rPr>
              <a:t>Sai Sharan Rangaraj Cholkar-2520030128</a:t>
            </a:r>
          </a:p>
          <a:p>
            <a:pPr algn="l">
              <a:lnSpc>
                <a:spcPts val="3592"/>
              </a:lnSpc>
            </a:pPr>
            <a:r>
              <a:rPr lang="en-US" sz="2897" b="true">
                <a:solidFill>
                  <a:srgbClr val="2D446E"/>
                </a:solidFill>
                <a:latin typeface="Roboto Bold"/>
                <a:ea typeface="Roboto Bold"/>
                <a:cs typeface="Roboto Bold"/>
                <a:sym typeface="Roboto Bold"/>
              </a:rPr>
              <a:t>Kompelli Saanvi-2520030083</a:t>
            </a:r>
          </a:p>
          <a:p>
            <a:pPr algn="l">
              <a:lnSpc>
                <a:spcPts val="3592"/>
              </a:lnSpc>
            </a:pPr>
            <a:r>
              <a:rPr lang="en-US" sz="2897" b="true">
                <a:solidFill>
                  <a:srgbClr val="2D446E"/>
                </a:solidFill>
                <a:latin typeface="Roboto Bold"/>
                <a:ea typeface="Roboto Bold"/>
                <a:cs typeface="Roboto Bold"/>
                <a:sym typeface="Roboto Bold"/>
              </a:rPr>
              <a:t>Ketana Sindhu Somishetty-2520030487</a:t>
            </a:r>
          </a:p>
          <a:p>
            <a:pPr algn="l" marL="0" indent="0" lvl="0">
              <a:lnSpc>
                <a:spcPts val="3592"/>
              </a:lnSpc>
            </a:pPr>
          </a:p>
        </p:txBody>
      </p:sp>
      <p:sp>
        <p:nvSpPr>
          <p:cNvPr name="TextBox 9" id="9"/>
          <p:cNvSpPr txBox="true"/>
          <p:nvPr/>
        </p:nvSpPr>
        <p:spPr>
          <a:xfrm rot="0">
            <a:off x="3057920" y="8880565"/>
            <a:ext cx="14864451" cy="377735"/>
          </a:xfrm>
          <a:prstGeom prst="rect">
            <a:avLst/>
          </a:prstGeom>
        </p:spPr>
        <p:txBody>
          <a:bodyPr anchor="t" rtlCol="false" tIns="0" lIns="0" bIns="0" rIns="0">
            <a:spAutoFit/>
          </a:bodyPr>
          <a:lstStyle/>
          <a:p>
            <a:pPr algn="l" marL="0" indent="0" lvl="0">
              <a:lnSpc>
                <a:spcPts val="2752"/>
              </a:lnSpc>
            </a:pPr>
            <a:r>
              <a:rPr lang="en-US" sz="2897">
                <a:solidFill>
                  <a:srgbClr val="1C74BB"/>
                </a:solidFill>
                <a:latin typeface="Roboto"/>
                <a:ea typeface="Roboto"/>
                <a:cs typeface="Roboto"/>
                <a:sym typeface="Roboto"/>
              </a:rPr>
              <a:t>Batch No: </a:t>
            </a:r>
            <a:r>
              <a:rPr lang="en-US" b="true" sz="2897">
                <a:solidFill>
                  <a:srgbClr val="2D446E"/>
                </a:solidFill>
                <a:latin typeface="Roboto Bold"/>
                <a:ea typeface="Roboto Bold"/>
                <a:cs typeface="Roboto Bold"/>
                <a:sym typeface="Roboto Bold"/>
              </a:rPr>
              <a:t>5</a:t>
            </a:r>
          </a:p>
        </p:txBody>
      </p:sp>
      <p:sp>
        <p:nvSpPr>
          <p:cNvPr name="TextBox 10" id="10"/>
          <p:cNvSpPr txBox="true"/>
          <p:nvPr/>
        </p:nvSpPr>
        <p:spPr>
          <a:xfrm rot="0">
            <a:off x="3057920" y="6001931"/>
            <a:ext cx="14864451" cy="377735"/>
          </a:xfrm>
          <a:prstGeom prst="rect">
            <a:avLst/>
          </a:prstGeom>
        </p:spPr>
        <p:txBody>
          <a:bodyPr anchor="t" rtlCol="false" tIns="0" lIns="0" bIns="0" rIns="0">
            <a:spAutoFit/>
          </a:bodyPr>
          <a:lstStyle/>
          <a:p>
            <a:pPr algn="l" marL="0" indent="0" lvl="0">
              <a:lnSpc>
                <a:spcPts val="2752"/>
              </a:lnSpc>
            </a:pPr>
            <a:r>
              <a:rPr lang="en-US" sz="2897">
                <a:solidFill>
                  <a:srgbClr val="1C74BB"/>
                </a:solidFill>
                <a:latin typeface="Roboto"/>
                <a:ea typeface="Roboto"/>
                <a:cs typeface="Roboto"/>
                <a:sym typeface="Roboto"/>
              </a:rPr>
              <a:t>Section: </a:t>
            </a:r>
            <a:r>
              <a:rPr lang="en-US" b="true" sz="2897">
                <a:solidFill>
                  <a:srgbClr val="2D446E"/>
                </a:solidFill>
                <a:latin typeface="Roboto Bold"/>
                <a:ea typeface="Roboto Bold"/>
                <a:cs typeface="Roboto Bold"/>
                <a:sym typeface="Roboto Bold"/>
              </a:rPr>
              <a:t>12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Freeform 2" id="2"/>
          <p:cNvSpPr/>
          <p:nvPr/>
        </p:nvSpPr>
        <p:spPr>
          <a:xfrm flipH="false" flipV="false" rot="-3855666">
            <a:off x="-2015591" y="6075202"/>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1374">
            <a:off x="14428299" y="-2860756"/>
            <a:ext cx="5662001" cy="5721512"/>
          </a:xfrm>
          <a:custGeom>
            <a:avLst/>
            <a:gdLst/>
            <a:ahLst/>
            <a:cxnLst/>
            <a:rect r="r" b="b" t="t" l="l"/>
            <a:pathLst>
              <a:path h="5721512" w="5662001">
                <a:moveTo>
                  <a:pt x="0" y="0"/>
                </a:moveTo>
                <a:lnTo>
                  <a:pt x="5662002" y="0"/>
                </a:lnTo>
                <a:lnTo>
                  <a:pt x="5662002"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913177"/>
            <a:ext cx="829060" cy="829060"/>
          </a:xfrm>
          <a:custGeom>
            <a:avLst/>
            <a:gdLst/>
            <a:ahLst/>
            <a:cxnLst/>
            <a:rect r="r" b="b" t="t" l="l"/>
            <a:pathLst>
              <a:path h="829060" w="829060">
                <a:moveTo>
                  <a:pt x="0" y="0"/>
                </a:moveTo>
                <a:lnTo>
                  <a:pt x="829060" y="0"/>
                </a:lnTo>
                <a:lnTo>
                  <a:pt x="829060" y="829060"/>
                </a:lnTo>
                <a:lnTo>
                  <a:pt x="0" y="8290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77002" y="4292755"/>
            <a:ext cx="5687585" cy="5418718"/>
          </a:xfrm>
          <a:custGeom>
            <a:avLst/>
            <a:gdLst/>
            <a:ahLst/>
            <a:cxnLst/>
            <a:rect r="r" b="b" t="t" l="l"/>
            <a:pathLst>
              <a:path h="5418718" w="5687585">
                <a:moveTo>
                  <a:pt x="0" y="0"/>
                </a:moveTo>
                <a:lnTo>
                  <a:pt x="5687586" y="0"/>
                </a:lnTo>
                <a:lnTo>
                  <a:pt x="5687586" y="5418718"/>
                </a:lnTo>
                <a:lnTo>
                  <a:pt x="0" y="54187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797988" y="4292755"/>
            <a:ext cx="5687585" cy="5418718"/>
          </a:xfrm>
          <a:custGeom>
            <a:avLst/>
            <a:gdLst/>
            <a:ahLst/>
            <a:cxnLst/>
            <a:rect r="r" b="b" t="t" l="l"/>
            <a:pathLst>
              <a:path h="5418718" w="5687585">
                <a:moveTo>
                  <a:pt x="0" y="0"/>
                </a:moveTo>
                <a:lnTo>
                  <a:pt x="5687585" y="0"/>
                </a:lnTo>
                <a:lnTo>
                  <a:pt x="5687585" y="5418718"/>
                </a:lnTo>
                <a:lnTo>
                  <a:pt x="0" y="54187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125201" y="2913177"/>
            <a:ext cx="15290566" cy="1379578"/>
          </a:xfrm>
          <a:prstGeom prst="rect">
            <a:avLst/>
          </a:prstGeom>
        </p:spPr>
        <p:txBody>
          <a:bodyPr anchor="t" rtlCol="false" tIns="0" lIns="0" bIns="0" rIns="0">
            <a:spAutoFit/>
          </a:bodyPr>
          <a:lstStyle/>
          <a:p>
            <a:pPr algn="just" marL="0" indent="0" lvl="0">
              <a:lnSpc>
                <a:spcPts val="2789"/>
              </a:lnSpc>
            </a:pPr>
            <a:r>
              <a:rPr lang="en-US" b="true" sz="2446">
                <a:solidFill>
                  <a:srgbClr val="1C74BB"/>
                </a:solidFill>
                <a:latin typeface="Roboto Bold"/>
                <a:ea typeface="Roboto Bold"/>
                <a:cs typeface="Roboto Bold"/>
                <a:sym typeface="Roboto Bold"/>
              </a:rPr>
              <a:t>The I</a:t>
            </a:r>
            <a:r>
              <a:rPr lang="en-US" b="true" sz="2446">
                <a:solidFill>
                  <a:srgbClr val="1C74BB"/>
                </a:solidFill>
                <a:latin typeface="Roboto Bold"/>
                <a:ea typeface="Roboto Bold"/>
                <a:cs typeface="Roboto Bold"/>
                <a:sym typeface="Roboto Bold"/>
              </a:rPr>
              <a:t>ntelligent Exam Proctoring System is an AI-based solution that automatically monitors student activities during online examinations. It detects suspicious behaviors, analyzes them using intelligent reasoning techniques, and provides transparent alerts to ensure secure, fair, and efficient online assessments.</a:t>
            </a:r>
          </a:p>
          <a:p>
            <a:pPr algn="just" marL="0" indent="0" lvl="0">
              <a:lnSpc>
                <a:spcPts val="2447"/>
              </a:lnSpc>
            </a:pPr>
          </a:p>
        </p:txBody>
      </p:sp>
      <p:sp>
        <p:nvSpPr>
          <p:cNvPr name="TextBox 8" id="8"/>
          <p:cNvSpPr txBox="true"/>
          <p:nvPr/>
        </p:nvSpPr>
        <p:spPr>
          <a:xfrm rot="0">
            <a:off x="1746228" y="1617382"/>
            <a:ext cx="9661250"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INTRO</a:t>
            </a:r>
          </a:p>
        </p:txBody>
      </p:sp>
      <p:sp>
        <p:nvSpPr>
          <p:cNvPr name="TextBox 9" id="9"/>
          <p:cNvSpPr txBox="true"/>
          <p:nvPr/>
        </p:nvSpPr>
        <p:spPr>
          <a:xfrm rot="0">
            <a:off x="5150958" y="4920867"/>
            <a:ext cx="4619526" cy="4592452"/>
          </a:xfrm>
          <a:prstGeom prst="rect">
            <a:avLst/>
          </a:prstGeom>
        </p:spPr>
        <p:txBody>
          <a:bodyPr anchor="t" rtlCol="false" tIns="0" lIns="0" bIns="0" rIns="0">
            <a:spAutoFit/>
          </a:bodyPr>
          <a:lstStyle/>
          <a:p>
            <a:pPr algn="l">
              <a:lnSpc>
                <a:spcPts val="3059"/>
              </a:lnSpc>
            </a:pPr>
            <a:r>
              <a:rPr lang="en-US" sz="2683" b="true">
                <a:solidFill>
                  <a:srgbClr val="2D446E"/>
                </a:solidFill>
                <a:latin typeface="Roboto Bold"/>
                <a:ea typeface="Roboto Bold"/>
                <a:cs typeface="Roboto Bold"/>
                <a:sym typeface="Roboto Bold"/>
              </a:rPr>
              <a:t>Student Monitoring-</a:t>
            </a:r>
          </a:p>
          <a:p>
            <a:pPr algn="l" marL="579470" indent="-289735" lvl="1">
              <a:lnSpc>
                <a:spcPts val="3059"/>
              </a:lnSpc>
              <a:buFont typeface="Arial"/>
              <a:buChar char="•"/>
            </a:pPr>
            <a:r>
              <a:rPr lang="en-US" sz="2683">
                <a:solidFill>
                  <a:srgbClr val="81C1F4"/>
                </a:solidFill>
                <a:latin typeface="Roboto"/>
                <a:ea typeface="Roboto"/>
                <a:cs typeface="Roboto"/>
                <a:sym typeface="Roboto"/>
              </a:rPr>
              <a:t>Webcam Monitoring</a:t>
            </a:r>
          </a:p>
          <a:p>
            <a:pPr algn="l" marL="579470" indent="-289735" lvl="1">
              <a:lnSpc>
                <a:spcPts val="3059"/>
              </a:lnSpc>
              <a:buFont typeface="Arial"/>
              <a:buChar char="•"/>
            </a:pPr>
            <a:r>
              <a:rPr lang="en-US" sz="2683">
                <a:solidFill>
                  <a:srgbClr val="81C1F4"/>
                </a:solidFill>
                <a:latin typeface="Roboto"/>
                <a:ea typeface="Roboto"/>
                <a:cs typeface="Roboto"/>
                <a:sym typeface="Roboto"/>
              </a:rPr>
              <a:t>Audio Monitoring</a:t>
            </a:r>
          </a:p>
          <a:p>
            <a:pPr algn="l" marL="579470" indent="-289735" lvl="1">
              <a:lnSpc>
                <a:spcPts val="3059"/>
              </a:lnSpc>
              <a:buFont typeface="Arial"/>
              <a:buChar char="•"/>
            </a:pPr>
            <a:r>
              <a:rPr lang="en-US" sz="2683">
                <a:solidFill>
                  <a:srgbClr val="81C1F4"/>
                </a:solidFill>
                <a:latin typeface="Roboto"/>
                <a:ea typeface="Roboto"/>
                <a:cs typeface="Roboto"/>
                <a:sym typeface="Roboto"/>
              </a:rPr>
              <a:t>Browser Activity Tracking</a:t>
            </a:r>
          </a:p>
          <a:p>
            <a:pPr algn="l">
              <a:lnSpc>
                <a:spcPts val="3059"/>
              </a:lnSpc>
            </a:pPr>
          </a:p>
          <a:p>
            <a:pPr algn="l">
              <a:lnSpc>
                <a:spcPts val="3059"/>
              </a:lnSpc>
            </a:pPr>
            <a:r>
              <a:rPr lang="en-US" sz="2683" b="true">
                <a:solidFill>
                  <a:srgbClr val="2D446E"/>
                </a:solidFill>
                <a:latin typeface="Roboto Bold"/>
                <a:ea typeface="Roboto Bold"/>
                <a:cs typeface="Roboto Bold"/>
                <a:sym typeface="Roboto Bold"/>
              </a:rPr>
              <a:t>Suspicious Activity Detection-</a:t>
            </a:r>
          </a:p>
          <a:p>
            <a:pPr algn="l" marL="579470" indent="-289735" lvl="1">
              <a:lnSpc>
                <a:spcPts val="3059"/>
              </a:lnSpc>
              <a:buFont typeface="Arial"/>
              <a:buChar char="•"/>
            </a:pPr>
            <a:r>
              <a:rPr lang="en-US" sz="2683">
                <a:solidFill>
                  <a:srgbClr val="81C1F4"/>
                </a:solidFill>
                <a:latin typeface="Roboto"/>
                <a:ea typeface="Roboto"/>
                <a:cs typeface="Roboto"/>
                <a:sym typeface="Roboto"/>
              </a:rPr>
              <a:t>Looking Away</a:t>
            </a:r>
          </a:p>
          <a:p>
            <a:pPr algn="l" marL="579470" indent="-289735" lvl="1">
              <a:lnSpc>
                <a:spcPts val="3059"/>
              </a:lnSpc>
              <a:buFont typeface="Arial"/>
              <a:buChar char="•"/>
            </a:pPr>
            <a:r>
              <a:rPr lang="en-US" sz="2683">
                <a:solidFill>
                  <a:srgbClr val="81C1F4"/>
                </a:solidFill>
                <a:latin typeface="Roboto"/>
                <a:ea typeface="Roboto"/>
                <a:cs typeface="Roboto"/>
                <a:sym typeface="Roboto"/>
              </a:rPr>
              <a:t>Multiple Faces</a:t>
            </a:r>
          </a:p>
          <a:p>
            <a:pPr algn="l" marL="579470" indent="-289735" lvl="1">
              <a:lnSpc>
                <a:spcPts val="3059"/>
              </a:lnSpc>
              <a:buFont typeface="Arial"/>
              <a:buChar char="•"/>
            </a:pPr>
            <a:r>
              <a:rPr lang="en-US" sz="2683">
                <a:solidFill>
                  <a:srgbClr val="81C1F4"/>
                </a:solidFill>
                <a:latin typeface="Roboto"/>
                <a:ea typeface="Roboto"/>
                <a:cs typeface="Roboto"/>
                <a:sym typeface="Roboto"/>
              </a:rPr>
              <a:t>Mobile Phone Detection</a:t>
            </a:r>
          </a:p>
          <a:p>
            <a:pPr algn="l" marL="579470" indent="-289735" lvl="1">
              <a:lnSpc>
                <a:spcPts val="3059"/>
              </a:lnSpc>
              <a:buFont typeface="Arial"/>
              <a:buChar char="•"/>
            </a:pPr>
            <a:r>
              <a:rPr lang="en-US" sz="2683">
                <a:solidFill>
                  <a:srgbClr val="81C1F4"/>
                </a:solidFill>
                <a:latin typeface="Roboto"/>
                <a:ea typeface="Roboto"/>
                <a:cs typeface="Roboto"/>
                <a:sym typeface="Roboto"/>
              </a:rPr>
              <a:t>Tab Switching</a:t>
            </a:r>
          </a:p>
          <a:p>
            <a:pPr algn="l" marL="579470" indent="-289735" lvl="1">
              <a:lnSpc>
                <a:spcPts val="3059"/>
              </a:lnSpc>
              <a:buFont typeface="Arial"/>
              <a:buChar char="•"/>
            </a:pPr>
            <a:r>
              <a:rPr lang="en-US" sz="2683">
                <a:solidFill>
                  <a:srgbClr val="81C1F4"/>
                </a:solidFill>
                <a:latin typeface="Roboto"/>
                <a:ea typeface="Roboto"/>
                <a:cs typeface="Roboto"/>
                <a:sym typeface="Roboto"/>
              </a:rPr>
              <a:t>Leaving Seat</a:t>
            </a:r>
          </a:p>
          <a:p>
            <a:pPr algn="l">
              <a:lnSpc>
                <a:spcPts val="3059"/>
              </a:lnSpc>
              <a:spcBef>
                <a:spcPct val="0"/>
              </a:spcBef>
            </a:pPr>
          </a:p>
        </p:txBody>
      </p:sp>
      <p:sp>
        <p:nvSpPr>
          <p:cNvPr name="TextBox 10" id="10"/>
          <p:cNvSpPr txBox="true"/>
          <p:nvPr/>
        </p:nvSpPr>
        <p:spPr>
          <a:xfrm rot="0">
            <a:off x="11407478" y="4515388"/>
            <a:ext cx="9661250" cy="4973452"/>
          </a:xfrm>
          <a:prstGeom prst="rect">
            <a:avLst/>
          </a:prstGeom>
        </p:spPr>
        <p:txBody>
          <a:bodyPr anchor="t" rtlCol="false" tIns="0" lIns="0" bIns="0" rIns="0">
            <a:spAutoFit/>
          </a:bodyPr>
          <a:lstStyle/>
          <a:p>
            <a:pPr algn="l">
              <a:lnSpc>
                <a:spcPts val="3059"/>
              </a:lnSpc>
              <a:spcBef>
                <a:spcPct val="0"/>
              </a:spcBef>
            </a:pPr>
            <a:r>
              <a:rPr lang="en-US" b="true" sz="2683">
                <a:solidFill>
                  <a:srgbClr val="2D446E"/>
                </a:solidFill>
                <a:latin typeface="Roboto Bold"/>
                <a:ea typeface="Roboto Bold"/>
                <a:cs typeface="Roboto Bold"/>
                <a:sym typeface="Roboto Bold"/>
              </a:rPr>
              <a:t>AI-Based Analysis-</a:t>
            </a:r>
          </a:p>
          <a:p>
            <a:pPr algn="l" marL="579470" indent="-289735" lvl="1">
              <a:lnSpc>
                <a:spcPts val="3059"/>
              </a:lnSpc>
              <a:buFont typeface="Arial"/>
              <a:buChar char="•"/>
            </a:pPr>
            <a:r>
              <a:rPr lang="en-US" sz="2683">
                <a:solidFill>
                  <a:srgbClr val="81C1F4"/>
                </a:solidFill>
                <a:latin typeface="Roboto"/>
                <a:ea typeface="Roboto"/>
                <a:cs typeface="Roboto"/>
                <a:sym typeface="Roboto"/>
              </a:rPr>
              <a:t>Rule-Based Reasoning</a:t>
            </a:r>
          </a:p>
          <a:p>
            <a:pPr algn="l" marL="579470" indent="-289735" lvl="1">
              <a:lnSpc>
                <a:spcPts val="3059"/>
              </a:lnSpc>
              <a:buFont typeface="Arial"/>
              <a:buChar char="•"/>
            </a:pPr>
            <a:r>
              <a:rPr lang="en-US" sz="2683">
                <a:solidFill>
                  <a:srgbClr val="81C1F4"/>
                </a:solidFill>
                <a:latin typeface="Roboto"/>
                <a:ea typeface="Roboto"/>
                <a:cs typeface="Roboto"/>
                <a:sym typeface="Roboto"/>
              </a:rPr>
              <a:t>Uncertainty Handling</a:t>
            </a:r>
          </a:p>
          <a:p>
            <a:pPr algn="l" marL="579470" indent="-289735" lvl="1">
              <a:lnSpc>
                <a:spcPts val="3059"/>
              </a:lnSpc>
              <a:buFont typeface="Arial"/>
              <a:buChar char="•"/>
            </a:pPr>
            <a:r>
              <a:rPr lang="en-US" sz="2683">
                <a:solidFill>
                  <a:srgbClr val="81C1F4"/>
                </a:solidFill>
                <a:latin typeface="Roboto"/>
                <a:ea typeface="Roboto"/>
                <a:cs typeface="Roboto"/>
                <a:sym typeface="Roboto"/>
              </a:rPr>
              <a:t>Behaviour Analysis</a:t>
            </a:r>
          </a:p>
          <a:p>
            <a:pPr algn="l">
              <a:lnSpc>
                <a:spcPts val="3059"/>
              </a:lnSpc>
            </a:pPr>
          </a:p>
          <a:p>
            <a:pPr algn="l">
              <a:lnSpc>
                <a:spcPts val="3059"/>
              </a:lnSpc>
              <a:spcBef>
                <a:spcPct val="0"/>
              </a:spcBef>
            </a:pPr>
            <a:r>
              <a:rPr lang="en-US" b="true" sz="2683">
                <a:solidFill>
                  <a:srgbClr val="2D446E"/>
                </a:solidFill>
                <a:latin typeface="Roboto Bold"/>
                <a:ea typeface="Roboto Bold"/>
                <a:cs typeface="Roboto Bold"/>
                <a:sym typeface="Roboto Bold"/>
              </a:rPr>
              <a:t>Explainable Decisions-</a:t>
            </a:r>
          </a:p>
          <a:p>
            <a:pPr algn="l" marL="579470" indent="-289735" lvl="1">
              <a:lnSpc>
                <a:spcPts val="3059"/>
              </a:lnSpc>
              <a:buFont typeface="Arial"/>
              <a:buChar char="•"/>
            </a:pPr>
            <a:r>
              <a:rPr lang="en-US" sz="2683">
                <a:solidFill>
                  <a:srgbClr val="81C1F4"/>
                </a:solidFill>
                <a:latin typeface="Roboto"/>
                <a:ea typeface="Roboto"/>
                <a:cs typeface="Roboto"/>
                <a:sym typeface="Roboto"/>
              </a:rPr>
              <a:t>Alert Generation</a:t>
            </a:r>
          </a:p>
          <a:p>
            <a:pPr algn="l" marL="579470" indent="-289735" lvl="1">
              <a:lnSpc>
                <a:spcPts val="3059"/>
              </a:lnSpc>
              <a:buFont typeface="Arial"/>
              <a:buChar char="•"/>
            </a:pPr>
            <a:r>
              <a:rPr lang="en-US" sz="2683">
                <a:solidFill>
                  <a:srgbClr val="81C1F4"/>
                </a:solidFill>
                <a:latin typeface="Roboto"/>
                <a:ea typeface="Roboto"/>
                <a:cs typeface="Roboto"/>
                <a:sym typeface="Roboto"/>
              </a:rPr>
              <a:t>Reason for Flagging</a:t>
            </a:r>
          </a:p>
          <a:p>
            <a:pPr algn="l">
              <a:lnSpc>
                <a:spcPts val="3059"/>
              </a:lnSpc>
            </a:pPr>
          </a:p>
          <a:p>
            <a:pPr algn="l">
              <a:lnSpc>
                <a:spcPts val="3059"/>
              </a:lnSpc>
              <a:spcBef>
                <a:spcPct val="0"/>
              </a:spcBef>
            </a:pPr>
            <a:r>
              <a:rPr lang="en-US" b="true" sz="2683">
                <a:solidFill>
                  <a:srgbClr val="2D446E"/>
                </a:solidFill>
                <a:latin typeface="Roboto Bold"/>
                <a:ea typeface="Roboto Bold"/>
                <a:cs typeface="Roboto Bold"/>
                <a:sym typeface="Roboto Bold"/>
              </a:rPr>
              <a:t>Benefits-</a:t>
            </a:r>
          </a:p>
          <a:p>
            <a:pPr algn="l" marL="579470" indent="-289735" lvl="1">
              <a:lnSpc>
                <a:spcPts val="3059"/>
              </a:lnSpc>
              <a:buFont typeface="Arial"/>
              <a:buChar char="•"/>
            </a:pPr>
            <a:r>
              <a:rPr lang="en-US" sz="2683">
                <a:solidFill>
                  <a:srgbClr val="81C1F4"/>
                </a:solidFill>
                <a:latin typeface="Roboto"/>
                <a:ea typeface="Roboto"/>
                <a:cs typeface="Roboto"/>
                <a:sym typeface="Roboto"/>
              </a:rPr>
              <a:t>Improved Exam Security</a:t>
            </a:r>
          </a:p>
          <a:p>
            <a:pPr algn="l" marL="579470" indent="-289735" lvl="1">
              <a:lnSpc>
                <a:spcPts val="3059"/>
              </a:lnSpc>
              <a:buFont typeface="Arial"/>
              <a:buChar char="•"/>
            </a:pPr>
            <a:r>
              <a:rPr lang="en-US" sz="2683">
                <a:solidFill>
                  <a:srgbClr val="81C1F4"/>
                </a:solidFill>
                <a:latin typeface="Roboto"/>
                <a:ea typeface="Roboto"/>
                <a:cs typeface="Roboto"/>
                <a:sym typeface="Roboto"/>
              </a:rPr>
              <a:t>Reduced Human Effort</a:t>
            </a:r>
          </a:p>
          <a:p>
            <a:pPr algn="l" marL="579470" indent="-289735" lvl="1">
              <a:lnSpc>
                <a:spcPts val="3059"/>
              </a:lnSpc>
              <a:buFont typeface="Arial"/>
              <a:buChar char="•"/>
            </a:pPr>
            <a:r>
              <a:rPr lang="en-US" sz="2683">
                <a:solidFill>
                  <a:srgbClr val="81C1F4"/>
                </a:solidFill>
                <a:latin typeface="Roboto"/>
                <a:ea typeface="Roboto"/>
                <a:cs typeface="Roboto"/>
                <a:sym typeface="Roboto"/>
              </a:rPr>
              <a:t>Fair &amp; Transparent Evaluation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TextBox 2" id="2"/>
          <p:cNvSpPr txBox="true"/>
          <p:nvPr/>
        </p:nvSpPr>
        <p:spPr>
          <a:xfrm rot="0">
            <a:off x="1251320" y="1434775"/>
            <a:ext cx="13073588"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TECHNOLOGIES USED-</a:t>
            </a:r>
          </a:p>
        </p:txBody>
      </p:sp>
      <p:sp>
        <p:nvSpPr>
          <p:cNvPr name="Freeform 3" id="3"/>
          <p:cNvSpPr/>
          <p:nvPr/>
        </p:nvSpPr>
        <p:spPr>
          <a:xfrm flipH="false" flipV="false" rot="-3855666">
            <a:off x="-2292818" y="6752214"/>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721374">
            <a:off x="14858712" y="-3048018"/>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2764456" y="4181949"/>
            <a:ext cx="851913" cy="807023"/>
          </a:xfrm>
          <a:prstGeom prst="rect">
            <a:avLst/>
          </a:prstGeom>
        </p:spPr>
        <p:txBody>
          <a:bodyPr anchor="t" rtlCol="false" tIns="0" lIns="0" bIns="0" rIns="0">
            <a:spAutoFit/>
          </a:bodyPr>
          <a:lstStyle/>
          <a:p>
            <a:pPr algn="l" marL="0" indent="0" lvl="0">
              <a:lnSpc>
                <a:spcPts val="5506"/>
              </a:lnSpc>
            </a:pPr>
          </a:p>
        </p:txBody>
      </p:sp>
      <p:sp>
        <p:nvSpPr>
          <p:cNvPr name="TextBox 6" id="6"/>
          <p:cNvSpPr txBox="true"/>
          <p:nvPr/>
        </p:nvSpPr>
        <p:spPr>
          <a:xfrm rot="0">
            <a:off x="2764456" y="5745573"/>
            <a:ext cx="851913" cy="807023"/>
          </a:xfrm>
          <a:prstGeom prst="rect">
            <a:avLst/>
          </a:prstGeom>
        </p:spPr>
        <p:txBody>
          <a:bodyPr anchor="t" rtlCol="false" tIns="0" lIns="0" bIns="0" rIns="0">
            <a:spAutoFit/>
          </a:bodyPr>
          <a:lstStyle/>
          <a:p>
            <a:pPr algn="l" marL="0" indent="0" lvl="0">
              <a:lnSpc>
                <a:spcPts val="5506"/>
              </a:lnSpc>
            </a:pPr>
          </a:p>
        </p:txBody>
      </p:sp>
      <p:sp>
        <p:nvSpPr>
          <p:cNvPr name="TextBox 7" id="7"/>
          <p:cNvSpPr txBox="true"/>
          <p:nvPr/>
        </p:nvSpPr>
        <p:spPr>
          <a:xfrm rot="0">
            <a:off x="2764456" y="7309197"/>
            <a:ext cx="1580066" cy="807023"/>
          </a:xfrm>
          <a:prstGeom prst="rect">
            <a:avLst/>
          </a:prstGeom>
        </p:spPr>
        <p:txBody>
          <a:bodyPr anchor="t" rtlCol="false" tIns="0" lIns="0" bIns="0" rIns="0">
            <a:spAutoFit/>
          </a:bodyPr>
          <a:lstStyle/>
          <a:p>
            <a:pPr algn="l" marL="0" indent="0" lvl="0">
              <a:lnSpc>
                <a:spcPts val="5506"/>
              </a:lnSpc>
            </a:pPr>
          </a:p>
        </p:txBody>
      </p:sp>
      <p:sp>
        <p:nvSpPr>
          <p:cNvPr name="TextBox 8" id="8"/>
          <p:cNvSpPr txBox="true"/>
          <p:nvPr/>
        </p:nvSpPr>
        <p:spPr>
          <a:xfrm rot="0">
            <a:off x="1605388" y="3030927"/>
            <a:ext cx="7773977" cy="5158595"/>
          </a:xfrm>
          <a:prstGeom prst="rect">
            <a:avLst/>
          </a:prstGeom>
        </p:spPr>
        <p:txBody>
          <a:bodyPr anchor="t" rtlCol="false" tIns="0" lIns="0" bIns="0" rIns="0">
            <a:spAutoFit/>
          </a:bodyPr>
          <a:lstStyle/>
          <a:p>
            <a:pPr algn="just">
              <a:lnSpc>
                <a:spcPts val="3683"/>
              </a:lnSpc>
            </a:pPr>
            <a:r>
              <a:rPr lang="en-US" sz="3231" b="true">
                <a:solidFill>
                  <a:srgbClr val="2D446E"/>
                </a:solidFill>
                <a:latin typeface="Roboto Bold"/>
                <a:ea typeface="Roboto Bold"/>
                <a:cs typeface="Roboto Bold"/>
                <a:sym typeface="Roboto Bold"/>
              </a:rPr>
              <a:t>Programming Language:</a:t>
            </a:r>
          </a:p>
          <a:p>
            <a:pPr algn="just">
              <a:lnSpc>
                <a:spcPts val="3683"/>
              </a:lnSpc>
            </a:pPr>
            <a:r>
              <a:rPr lang="en-US" sz="3231">
                <a:solidFill>
                  <a:srgbClr val="1C74BB"/>
                </a:solidFill>
                <a:latin typeface="Roboto"/>
                <a:ea typeface="Roboto"/>
                <a:cs typeface="Roboto"/>
                <a:sym typeface="Roboto"/>
              </a:rPr>
              <a:t>• Python</a:t>
            </a:r>
          </a:p>
          <a:p>
            <a:pPr algn="just">
              <a:lnSpc>
                <a:spcPts val="3683"/>
              </a:lnSpc>
            </a:pPr>
          </a:p>
          <a:p>
            <a:pPr algn="just">
              <a:lnSpc>
                <a:spcPts val="3683"/>
              </a:lnSpc>
            </a:pPr>
            <a:r>
              <a:rPr lang="en-US" sz="3231" b="true">
                <a:solidFill>
                  <a:srgbClr val="2D446E"/>
                </a:solidFill>
                <a:latin typeface="Roboto Bold"/>
                <a:ea typeface="Roboto Bold"/>
                <a:cs typeface="Roboto Bold"/>
                <a:sym typeface="Roboto Bold"/>
              </a:rPr>
              <a:t>Libraries:</a:t>
            </a:r>
          </a:p>
          <a:p>
            <a:pPr algn="just">
              <a:lnSpc>
                <a:spcPts val="3683"/>
              </a:lnSpc>
            </a:pPr>
            <a:r>
              <a:rPr lang="en-US" sz="3231">
                <a:solidFill>
                  <a:srgbClr val="1C74BB"/>
                </a:solidFill>
                <a:latin typeface="Roboto"/>
                <a:ea typeface="Roboto"/>
                <a:cs typeface="Roboto"/>
                <a:sym typeface="Roboto"/>
              </a:rPr>
              <a:t>• OpenCV</a:t>
            </a:r>
          </a:p>
          <a:p>
            <a:pPr algn="just">
              <a:lnSpc>
                <a:spcPts val="3683"/>
              </a:lnSpc>
            </a:pPr>
            <a:r>
              <a:rPr lang="en-US" sz="3231">
                <a:solidFill>
                  <a:srgbClr val="1C74BB"/>
                </a:solidFill>
                <a:latin typeface="Roboto"/>
                <a:ea typeface="Roboto"/>
                <a:cs typeface="Roboto"/>
                <a:sym typeface="Roboto"/>
              </a:rPr>
              <a:t>• NumPy</a:t>
            </a:r>
          </a:p>
          <a:p>
            <a:pPr algn="just">
              <a:lnSpc>
                <a:spcPts val="3683"/>
              </a:lnSpc>
            </a:pPr>
          </a:p>
          <a:p>
            <a:pPr algn="just">
              <a:lnSpc>
                <a:spcPts val="3683"/>
              </a:lnSpc>
            </a:pPr>
            <a:r>
              <a:rPr lang="en-US" sz="3231" b="true">
                <a:solidFill>
                  <a:srgbClr val="2D446E"/>
                </a:solidFill>
                <a:latin typeface="Roboto Bold"/>
                <a:ea typeface="Roboto Bold"/>
                <a:cs typeface="Roboto Bold"/>
                <a:sym typeface="Roboto Bold"/>
              </a:rPr>
              <a:t>Computer Vision Techniques:</a:t>
            </a:r>
          </a:p>
          <a:p>
            <a:pPr algn="just">
              <a:lnSpc>
                <a:spcPts val="3683"/>
              </a:lnSpc>
            </a:pPr>
            <a:r>
              <a:rPr lang="en-US" sz="3231">
                <a:solidFill>
                  <a:srgbClr val="1C74BB"/>
                </a:solidFill>
                <a:latin typeface="Roboto"/>
                <a:ea typeface="Roboto"/>
                <a:cs typeface="Roboto"/>
                <a:sym typeface="Roboto"/>
              </a:rPr>
              <a:t>• Haar Cascade Face Detection</a:t>
            </a:r>
          </a:p>
          <a:p>
            <a:pPr algn="just">
              <a:lnSpc>
                <a:spcPts val="3683"/>
              </a:lnSpc>
            </a:pPr>
          </a:p>
          <a:p>
            <a:pPr algn="just">
              <a:lnSpc>
                <a:spcPts val="3683"/>
              </a:lnSpc>
            </a:pPr>
          </a:p>
        </p:txBody>
      </p:sp>
      <p:sp>
        <p:nvSpPr>
          <p:cNvPr name="TextBox 9" id="9"/>
          <p:cNvSpPr txBox="true"/>
          <p:nvPr/>
        </p:nvSpPr>
        <p:spPr>
          <a:xfrm rot="0">
            <a:off x="8874860" y="3007852"/>
            <a:ext cx="7773977" cy="6092045"/>
          </a:xfrm>
          <a:prstGeom prst="rect">
            <a:avLst/>
          </a:prstGeom>
        </p:spPr>
        <p:txBody>
          <a:bodyPr anchor="t" rtlCol="false" tIns="0" lIns="0" bIns="0" rIns="0">
            <a:spAutoFit/>
          </a:bodyPr>
          <a:lstStyle/>
          <a:p>
            <a:pPr algn="just">
              <a:lnSpc>
                <a:spcPts val="3683"/>
              </a:lnSpc>
            </a:pPr>
            <a:r>
              <a:rPr lang="en-US" sz="3231" b="true">
                <a:solidFill>
                  <a:srgbClr val="2D446E"/>
                </a:solidFill>
                <a:latin typeface="Roboto Bold"/>
                <a:ea typeface="Roboto Bold"/>
                <a:cs typeface="Roboto Bold"/>
                <a:sym typeface="Roboto Bold"/>
              </a:rPr>
              <a:t>AI Concepts:</a:t>
            </a:r>
          </a:p>
          <a:p>
            <a:pPr algn="just">
              <a:lnSpc>
                <a:spcPts val="3683"/>
              </a:lnSpc>
            </a:pPr>
            <a:r>
              <a:rPr lang="en-US" sz="3231">
                <a:solidFill>
                  <a:srgbClr val="1C74BB"/>
                </a:solidFill>
                <a:latin typeface="Roboto"/>
                <a:ea typeface="Roboto"/>
                <a:cs typeface="Roboto"/>
                <a:sym typeface="Roboto"/>
              </a:rPr>
              <a:t>• Computer Vision</a:t>
            </a:r>
          </a:p>
          <a:p>
            <a:pPr algn="just">
              <a:lnSpc>
                <a:spcPts val="3683"/>
              </a:lnSpc>
            </a:pPr>
            <a:r>
              <a:rPr lang="en-US" sz="3231">
                <a:solidFill>
                  <a:srgbClr val="1C74BB"/>
                </a:solidFill>
                <a:latin typeface="Roboto"/>
                <a:ea typeface="Roboto"/>
                <a:cs typeface="Roboto"/>
                <a:sym typeface="Roboto"/>
              </a:rPr>
              <a:t>• Rule-Based Reasoning</a:t>
            </a:r>
          </a:p>
          <a:p>
            <a:pPr algn="just">
              <a:lnSpc>
                <a:spcPts val="3683"/>
              </a:lnSpc>
            </a:pPr>
            <a:r>
              <a:rPr lang="en-US" sz="3231">
                <a:solidFill>
                  <a:srgbClr val="1C74BB"/>
                </a:solidFill>
                <a:latin typeface="Roboto"/>
                <a:ea typeface="Roboto"/>
                <a:cs typeface="Roboto"/>
                <a:sym typeface="Roboto"/>
              </a:rPr>
              <a:t>• Behaviour Analysis</a:t>
            </a:r>
          </a:p>
          <a:p>
            <a:pPr algn="just">
              <a:lnSpc>
                <a:spcPts val="3683"/>
              </a:lnSpc>
            </a:pPr>
            <a:r>
              <a:rPr lang="en-US" sz="3231">
                <a:solidFill>
                  <a:srgbClr val="1C74BB"/>
                </a:solidFill>
                <a:latin typeface="Roboto"/>
                <a:ea typeface="Roboto"/>
                <a:cs typeface="Roboto"/>
                <a:sym typeface="Roboto"/>
              </a:rPr>
              <a:t>• Suspicious Activity Detection</a:t>
            </a:r>
          </a:p>
          <a:p>
            <a:pPr algn="just">
              <a:lnSpc>
                <a:spcPts val="3683"/>
              </a:lnSpc>
            </a:pPr>
          </a:p>
          <a:p>
            <a:pPr algn="just">
              <a:lnSpc>
                <a:spcPts val="3683"/>
              </a:lnSpc>
            </a:pPr>
            <a:r>
              <a:rPr lang="en-US" sz="3231" b="true">
                <a:solidFill>
                  <a:srgbClr val="2D446E"/>
                </a:solidFill>
                <a:latin typeface="Roboto Bold"/>
                <a:ea typeface="Roboto Bold"/>
                <a:cs typeface="Roboto Bold"/>
                <a:sym typeface="Roboto Bold"/>
              </a:rPr>
              <a:t>Development Tools:</a:t>
            </a:r>
          </a:p>
          <a:p>
            <a:pPr algn="just">
              <a:lnSpc>
                <a:spcPts val="3683"/>
              </a:lnSpc>
            </a:pPr>
            <a:r>
              <a:rPr lang="en-US" sz="3231">
                <a:solidFill>
                  <a:srgbClr val="1C74BB"/>
                </a:solidFill>
                <a:latin typeface="Roboto"/>
                <a:ea typeface="Roboto"/>
                <a:cs typeface="Roboto"/>
                <a:sym typeface="Roboto"/>
              </a:rPr>
              <a:t>• Visual Studio Code</a:t>
            </a:r>
          </a:p>
          <a:p>
            <a:pPr algn="just">
              <a:lnSpc>
                <a:spcPts val="3683"/>
              </a:lnSpc>
            </a:pPr>
            <a:r>
              <a:rPr lang="en-US" sz="3231">
                <a:solidFill>
                  <a:srgbClr val="1C74BB"/>
                </a:solidFill>
                <a:latin typeface="Roboto"/>
                <a:ea typeface="Roboto"/>
                <a:cs typeface="Roboto"/>
                <a:sym typeface="Roboto"/>
              </a:rPr>
              <a:t>• Git</a:t>
            </a:r>
          </a:p>
          <a:p>
            <a:pPr algn="just">
              <a:lnSpc>
                <a:spcPts val="3683"/>
              </a:lnSpc>
            </a:pPr>
            <a:r>
              <a:rPr lang="en-US" sz="3231">
                <a:solidFill>
                  <a:srgbClr val="1C74BB"/>
                </a:solidFill>
                <a:latin typeface="Roboto"/>
                <a:ea typeface="Roboto"/>
                <a:cs typeface="Roboto"/>
                <a:sym typeface="Roboto"/>
              </a:rPr>
              <a:t>• GitHub</a:t>
            </a:r>
          </a:p>
          <a:p>
            <a:pPr algn="just">
              <a:lnSpc>
                <a:spcPts val="3683"/>
              </a:lnSpc>
            </a:pPr>
          </a:p>
          <a:p>
            <a:pPr algn="just">
              <a:lnSpc>
                <a:spcPts val="3683"/>
              </a:lnSpc>
            </a:pPr>
          </a:p>
          <a:p>
            <a:pPr algn="just">
              <a:lnSpc>
                <a:spcPts val="368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Freeform 2" id="2"/>
          <p:cNvSpPr/>
          <p:nvPr/>
        </p:nvSpPr>
        <p:spPr>
          <a:xfrm flipH="false" flipV="false" rot="-3855666">
            <a:off x="15046734" y="7028792"/>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1374">
            <a:off x="-1084773" y="-3327728"/>
            <a:ext cx="5662001" cy="5721512"/>
          </a:xfrm>
          <a:custGeom>
            <a:avLst/>
            <a:gdLst/>
            <a:ahLst/>
            <a:cxnLst/>
            <a:rect r="r" b="b" t="t" l="l"/>
            <a:pathLst>
              <a:path h="5721512" w="5662001">
                <a:moveTo>
                  <a:pt x="0" y="0"/>
                </a:moveTo>
                <a:lnTo>
                  <a:pt x="5662002" y="0"/>
                </a:lnTo>
                <a:lnTo>
                  <a:pt x="5662002"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a:grpSpLocks noChangeAspect="true"/>
          </p:cNvGrpSpPr>
          <p:nvPr/>
        </p:nvGrpSpPr>
        <p:grpSpPr>
          <a:xfrm rot="0">
            <a:off x="14071395" y="178964"/>
            <a:ext cx="3356332" cy="335633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81C1F4"/>
            </a:solidFill>
          </p:spPr>
        </p:sp>
        <p:sp>
          <p:nvSpPr>
            <p:cNvPr name="Freeform 6" id="6"/>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4"/>
              <a:stretch>
                <a:fillRect l="-11" t="0" r="-11" b="0"/>
              </a:stretch>
            </a:blipFill>
          </p:spPr>
        </p:sp>
      </p:grpSp>
      <p:sp>
        <p:nvSpPr>
          <p:cNvPr name="Freeform 7" id="7"/>
          <p:cNvSpPr/>
          <p:nvPr/>
        </p:nvSpPr>
        <p:spPr>
          <a:xfrm flipH="false" flipV="false" rot="0">
            <a:off x="8396838" y="3717834"/>
            <a:ext cx="8862462" cy="5172455"/>
          </a:xfrm>
          <a:custGeom>
            <a:avLst/>
            <a:gdLst/>
            <a:ahLst/>
            <a:cxnLst/>
            <a:rect r="r" b="b" t="t" l="l"/>
            <a:pathLst>
              <a:path h="5172455" w="8862462">
                <a:moveTo>
                  <a:pt x="0" y="0"/>
                </a:moveTo>
                <a:lnTo>
                  <a:pt x="8862462" y="0"/>
                </a:lnTo>
                <a:lnTo>
                  <a:pt x="8862462" y="5172455"/>
                </a:lnTo>
                <a:lnTo>
                  <a:pt x="0" y="5172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8252" y="3711146"/>
            <a:ext cx="8862462" cy="5172455"/>
          </a:xfrm>
          <a:custGeom>
            <a:avLst/>
            <a:gdLst/>
            <a:ahLst/>
            <a:cxnLst/>
            <a:rect r="r" b="b" t="t" l="l"/>
            <a:pathLst>
              <a:path h="5172455" w="8862462">
                <a:moveTo>
                  <a:pt x="0" y="0"/>
                </a:moveTo>
                <a:lnTo>
                  <a:pt x="8862462" y="0"/>
                </a:lnTo>
                <a:lnTo>
                  <a:pt x="8862462" y="5172455"/>
                </a:lnTo>
                <a:lnTo>
                  <a:pt x="0" y="5172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702495" y="4420448"/>
            <a:ext cx="7773977" cy="4225145"/>
          </a:xfrm>
          <a:prstGeom prst="rect">
            <a:avLst/>
          </a:prstGeom>
        </p:spPr>
        <p:txBody>
          <a:bodyPr anchor="t" rtlCol="false" tIns="0" lIns="0" bIns="0" rIns="0">
            <a:spAutoFit/>
          </a:bodyPr>
          <a:lstStyle/>
          <a:p>
            <a:pPr algn="just">
              <a:lnSpc>
                <a:spcPts val="3683"/>
              </a:lnSpc>
            </a:pPr>
            <a:r>
              <a:rPr lang="en-US" sz="3231" b="true">
                <a:solidFill>
                  <a:srgbClr val="2D446E"/>
                </a:solidFill>
                <a:latin typeface="Roboto Bold"/>
                <a:ea typeface="Roboto Bold"/>
                <a:cs typeface="Roboto Bold"/>
                <a:sym typeface="Roboto Bold"/>
              </a:rPr>
              <a:t>Motivation for Project Selection</a:t>
            </a:r>
          </a:p>
          <a:p>
            <a:pPr algn="just" marL="697575" indent="-348787" lvl="1">
              <a:lnSpc>
                <a:spcPts val="3683"/>
              </a:lnSpc>
              <a:buFont typeface="Arial"/>
              <a:buChar char="•"/>
            </a:pPr>
            <a:r>
              <a:rPr lang="en-US" sz="3231">
                <a:solidFill>
                  <a:srgbClr val="1C74BB"/>
                </a:solidFill>
                <a:latin typeface="Roboto"/>
                <a:ea typeface="Roboto"/>
                <a:cs typeface="Roboto"/>
                <a:sym typeface="Roboto"/>
              </a:rPr>
              <a:t>Growth of online examinations</a:t>
            </a:r>
          </a:p>
          <a:p>
            <a:pPr algn="just" marL="697575" indent="-348787" lvl="1">
              <a:lnSpc>
                <a:spcPts val="3683"/>
              </a:lnSpc>
              <a:buFont typeface="Arial"/>
              <a:buChar char="•"/>
            </a:pPr>
            <a:r>
              <a:rPr lang="en-US" sz="3231">
                <a:solidFill>
                  <a:srgbClr val="1C74BB"/>
                </a:solidFill>
                <a:latin typeface="Roboto"/>
                <a:ea typeface="Roboto"/>
                <a:cs typeface="Roboto"/>
                <a:sym typeface="Roboto"/>
              </a:rPr>
              <a:t>Increase in cheating incidents</a:t>
            </a:r>
          </a:p>
          <a:p>
            <a:pPr algn="just" marL="697575" indent="-348787" lvl="1">
              <a:lnSpc>
                <a:spcPts val="3683"/>
              </a:lnSpc>
              <a:buFont typeface="Arial"/>
              <a:buChar char="•"/>
            </a:pPr>
            <a:r>
              <a:rPr lang="en-US" sz="3231">
                <a:solidFill>
                  <a:srgbClr val="1C74BB"/>
                </a:solidFill>
                <a:latin typeface="Roboto"/>
                <a:ea typeface="Roboto"/>
                <a:cs typeface="Roboto"/>
                <a:sym typeface="Roboto"/>
              </a:rPr>
              <a:t>Need for automated monitoring</a:t>
            </a:r>
          </a:p>
          <a:p>
            <a:pPr algn="just">
              <a:lnSpc>
                <a:spcPts val="3683"/>
              </a:lnSpc>
            </a:pPr>
            <a:r>
              <a:rPr lang="en-US" sz="3231" b="true">
                <a:solidFill>
                  <a:srgbClr val="2D446E"/>
                </a:solidFill>
                <a:latin typeface="Roboto Bold"/>
                <a:ea typeface="Roboto Bold"/>
                <a:cs typeface="Roboto Bold"/>
                <a:sym typeface="Roboto Bold"/>
              </a:rPr>
              <a:t>Problem to be Solved</a:t>
            </a:r>
          </a:p>
          <a:p>
            <a:pPr algn="just" marL="697575" indent="-348787" lvl="1">
              <a:lnSpc>
                <a:spcPts val="3683"/>
              </a:lnSpc>
              <a:buFont typeface="Arial"/>
              <a:buChar char="•"/>
            </a:pPr>
            <a:r>
              <a:rPr lang="en-US" sz="3231">
                <a:solidFill>
                  <a:srgbClr val="1C74BB"/>
                </a:solidFill>
                <a:latin typeface="Roboto"/>
                <a:ea typeface="Roboto"/>
                <a:cs typeface="Roboto"/>
                <a:sym typeface="Roboto"/>
              </a:rPr>
              <a:t>Detect suspicious student behaviour</a:t>
            </a:r>
          </a:p>
          <a:p>
            <a:pPr algn="just" marL="697575" indent="-348787" lvl="1">
              <a:lnSpc>
                <a:spcPts val="3683"/>
              </a:lnSpc>
              <a:buFont typeface="Arial"/>
              <a:buChar char="•"/>
            </a:pPr>
            <a:r>
              <a:rPr lang="en-US" sz="3231">
                <a:solidFill>
                  <a:srgbClr val="1C74BB"/>
                </a:solidFill>
                <a:latin typeface="Roboto"/>
                <a:ea typeface="Roboto"/>
                <a:cs typeface="Roboto"/>
                <a:sym typeface="Roboto"/>
              </a:rPr>
              <a:t>Reduce manual invigilation effort</a:t>
            </a:r>
          </a:p>
          <a:p>
            <a:pPr algn="just" marL="697575" indent="-348787" lvl="1">
              <a:lnSpc>
                <a:spcPts val="3683"/>
              </a:lnSpc>
              <a:buFont typeface="Arial"/>
              <a:buChar char="•"/>
            </a:pPr>
            <a:r>
              <a:rPr lang="en-US" sz="3231">
                <a:solidFill>
                  <a:srgbClr val="1C74BB"/>
                </a:solidFill>
                <a:latin typeface="Roboto"/>
                <a:ea typeface="Roboto"/>
                <a:cs typeface="Roboto"/>
                <a:sym typeface="Roboto"/>
              </a:rPr>
              <a:t>Improve exam fairness and security</a:t>
            </a:r>
          </a:p>
          <a:p>
            <a:pPr algn="just">
              <a:lnSpc>
                <a:spcPts val="3683"/>
              </a:lnSpc>
            </a:pPr>
          </a:p>
        </p:txBody>
      </p:sp>
      <p:sp>
        <p:nvSpPr>
          <p:cNvPr name="TextBox 10" id="10"/>
          <p:cNvSpPr txBox="true"/>
          <p:nvPr/>
        </p:nvSpPr>
        <p:spPr>
          <a:xfrm rot="0">
            <a:off x="829379" y="2496676"/>
            <a:ext cx="13073588"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MOTIVATION</a:t>
            </a:r>
          </a:p>
        </p:txBody>
      </p:sp>
      <p:sp>
        <p:nvSpPr>
          <p:cNvPr name="TextBox 11" id="11"/>
          <p:cNvSpPr txBox="true"/>
          <p:nvPr/>
        </p:nvSpPr>
        <p:spPr>
          <a:xfrm rot="0">
            <a:off x="9020714" y="4420448"/>
            <a:ext cx="8238586" cy="4225145"/>
          </a:xfrm>
          <a:prstGeom prst="rect">
            <a:avLst/>
          </a:prstGeom>
        </p:spPr>
        <p:txBody>
          <a:bodyPr anchor="t" rtlCol="false" tIns="0" lIns="0" bIns="0" rIns="0">
            <a:spAutoFit/>
          </a:bodyPr>
          <a:lstStyle/>
          <a:p>
            <a:pPr algn="just">
              <a:lnSpc>
                <a:spcPts val="3683"/>
              </a:lnSpc>
            </a:pPr>
            <a:r>
              <a:rPr lang="en-US" sz="3231" b="true">
                <a:solidFill>
                  <a:srgbClr val="2D446E"/>
                </a:solidFill>
                <a:latin typeface="Roboto Bold"/>
                <a:ea typeface="Roboto Bold"/>
                <a:cs typeface="Roboto Bold"/>
                <a:sym typeface="Roboto Bold"/>
              </a:rPr>
              <a:t>Existing Methods / Alternatives</a:t>
            </a:r>
          </a:p>
          <a:p>
            <a:pPr algn="just" marL="697575" indent="-348787" lvl="1">
              <a:lnSpc>
                <a:spcPts val="3683"/>
              </a:lnSpc>
              <a:buFont typeface="Arial"/>
              <a:buChar char="•"/>
            </a:pPr>
            <a:r>
              <a:rPr lang="en-US" sz="3231">
                <a:solidFill>
                  <a:srgbClr val="1C74BB"/>
                </a:solidFill>
                <a:latin typeface="Roboto"/>
                <a:ea typeface="Roboto"/>
                <a:cs typeface="Roboto"/>
                <a:sym typeface="Roboto"/>
              </a:rPr>
              <a:t>Manual online invigilation</a:t>
            </a:r>
          </a:p>
          <a:p>
            <a:pPr algn="just" marL="697575" indent="-348787" lvl="1">
              <a:lnSpc>
                <a:spcPts val="3683"/>
              </a:lnSpc>
              <a:buFont typeface="Arial"/>
              <a:buChar char="•"/>
            </a:pPr>
            <a:r>
              <a:rPr lang="en-US" sz="3231">
                <a:solidFill>
                  <a:srgbClr val="1C74BB"/>
                </a:solidFill>
                <a:latin typeface="Roboto"/>
                <a:ea typeface="Roboto"/>
                <a:cs typeface="Roboto"/>
                <a:sym typeface="Roboto"/>
              </a:rPr>
              <a:t>Browser lockdown systems</a:t>
            </a:r>
          </a:p>
          <a:p>
            <a:pPr algn="just" marL="697575" indent="-348787" lvl="1">
              <a:lnSpc>
                <a:spcPts val="3683"/>
              </a:lnSpc>
              <a:buFont typeface="Arial"/>
              <a:buChar char="•"/>
            </a:pPr>
            <a:r>
              <a:rPr lang="en-US" sz="3231">
                <a:solidFill>
                  <a:srgbClr val="1C74BB"/>
                </a:solidFill>
                <a:latin typeface="Roboto"/>
                <a:ea typeface="Roboto"/>
                <a:cs typeface="Roboto"/>
                <a:sym typeface="Roboto"/>
              </a:rPr>
              <a:t>Traditional webcam monitoring</a:t>
            </a:r>
          </a:p>
          <a:p>
            <a:pPr algn="just">
              <a:lnSpc>
                <a:spcPts val="3683"/>
              </a:lnSpc>
            </a:pPr>
            <a:r>
              <a:rPr lang="en-US" sz="3231" b="true">
                <a:solidFill>
                  <a:srgbClr val="2D446E"/>
                </a:solidFill>
                <a:latin typeface="Roboto Bold"/>
                <a:ea typeface="Roboto Bold"/>
                <a:cs typeface="Roboto Bold"/>
                <a:sym typeface="Roboto Bold"/>
              </a:rPr>
              <a:t>Why the Proposed System?</a:t>
            </a:r>
          </a:p>
          <a:p>
            <a:pPr algn="just" marL="697575" indent="-348787" lvl="1">
              <a:lnSpc>
                <a:spcPts val="3683"/>
              </a:lnSpc>
              <a:buFont typeface="Arial"/>
              <a:buChar char="•"/>
            </a:pPr>
            <a:r>
              <a:rPr lang="en-US" sz="3231">
                <a:solidFill>
                  <a:srgbClr val="1C74BB"/>
                </a:solidFill>
                <a:latin typeface="Roboto"/>
                <a:ea typeface="Roboto"/>
                <a:cs typeface="Roboto"/>
                <a:sym typeface="Roboto"/>
              </a:rPr>
              <a:t>AI-based real-time monitoring</a:t>
            </a:r>
          </a:p>
          <a:p>
            <a:pPr algn="just" marL="697575" indent="-348787" lvl="1">
              <a:lnSpc>
                <a:spcPts val="3683"/>
              </a:lnSpc>
              <a:buFont typeface="Arial"/>
              <a:buChar char="•"/>
            </a:pPr>
            <a:r>
              <a:rPr lang="en-US" sz="3231">
                <a:solidFill>
                  <a:srgbClr val="1C74BB"/>
                </a:solidFill>
                <a:latin typeface="Roboto"/>
                <a:ea typeface="Roboto"/>
                <a:cs typeface="Roboto"/>
                <a:sym typeface="Roboto"/>
              </a:rPr>
              <a:t>Explainable suspicious activity detection</a:t>
            </a:r>
          </a:p>
          <a:p>
            <a:pPr algn="just" marL="697575" indent="-348787" lvl="1">
              <a:lnSpc>
                <a:spcPts val="3683"/>
              </a:lnSpc>
              <a:buFont typeface="Arial"/>
              <a:buChar char="•"/>
            </a:pPr>
            <a:r>
              <a:rPr lang="en-US" sz="3231">
                <a:solidFill>
                  <a:srgbClr val="1C74BB"/>
                </a:solidFill>
                <a:latin typeface="Roboto"/>
                <a:ea typeface="Roboto"/>
                <a:cs typeface="Roboto"/>
                <a:sym typeface="Roboto"/>
              </a:rPr>
              <a:t>Scalable for large-scale online exams</a:t>
            </a:r>
          </a:p>
          <a:p>
            <a:pPr algn="just">
              <a:lnSpc>
                <a:spcPts val="3683"/>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Freeform 2" id="2"/>
          <p:cNvSpPr/>
          <p:nvPr/>
        </p:nvSpPr>
        <p:spPr>
          <a:xfrm flipH="false" flipV="false" rot="-3855666">
            <a:off x="-3388074" y="5908388"/>
            <a:ext cx="5662001" cy="5721512"/>
          </a:xfrm>
          <a:custGeom>
            <a:avLst/>
            <a:gdLst/>
            <a:ahLst/>
            <a:cxnLst/>
            <a:rect r="r" b="b" t="t" l="l"/>
            <a:pathLst>
              <a:path h="5721512" w="5662001">
                <a:moveTo>
                  <a:pt x="0" y="0"/>
                </a:moveTo>
                <a:lnTo>
                  <a:pt x="5662001" y="0"/>
                </a:lnTo>
                <a:lnTo>
                  <a:pt x="5662001" y="5721511"/>
                </a:lnTo>
                <a:lnTo>
                  <a:pt x="0" y="57215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1374">
            <a:off x="15456999" y="-2309713"/>
            <a:ext cx="5662001" cy="5721512"/>
          </a:xfrm>
          <a:custGeom>
            <a:avLst/>
            <a:gdLst/>
            <a:ahLst/>
            <a:cxnLst/>
            <a:rect r="r" b="b" t="t" l="l"/>
            <a:pathLst>
              <a:path h="5721512" w="5662001">
                <a:moveTo>
                  <a:pt x="0" y="0"/>
                </a:moveTo>
                <a:lnTo>
                  <a:pt x="5662002" y="0"/>
                </a:lnTo>
                <a:lnTo>
                  <a:pt x="5662002"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270295" y="5143500"/>
            <a:ext cx="15031529" cy="2158175"/>
            <a:chOff x="0" y="0"/>
            <a:chExt cx="1387448" cy="199205"/>
          </a:xfrm>
        </p:grpSpPr>
        <p:sp>
          <p:nvSpPr>
            <p:cNvPr name="Freeform 5" id="5"/>
            <p:cNvSpPr/>
            <p:nvPr/>
          </p:nvSpPr>
          <p:spPr>
            <a:xfrm flipH="false" flipV="false" rot="0">
              <a:off x="0" y="0"/>
              <a:ext cx="1387448" cy="199205"/>
            </a:xfrm>
            <a:custGeom>
              <a:avLst/>
              <a:gdLst/>
              <a:ahLst/>
              <a:cxnLst/>
              <a:rect r="r" b="b" t="t" l="l"/>
              <a:pathLst>
                <a:path h="199205" w="1387448">
                  <a:moveTo>
                    <a:pt x="10059" y="0"/>
                  </a:moveTo>
                  <a:lnTo>
                    <a:pt x="1377389" y="0"/>
                  </a:lnTo>
                  <a:cubicBezTo>
                    <a:pt x="1380057" y="0"/>
                    <a:pt x="1382615" y="1060"/>
                    <a:pt x="1384502" y="2946"/>
                  </a:cubicBezTo>
                  <a:cubicBezTo>
                    <a:pt x="1386388" y="4833"/>
                    <a:pt x="1387448" y="7392"/>
                    <a:pt x="1387448" y="10059"/>
                  </a:cubicBezTo>
                  <a:lnTo>
                    <a:pt x="1387448" y="189145"/>
                  </a:lnTo>
                  <a:cubicBezTo>
                    <a:pt x="1387448" y="191813"/>
                    <a:pt x="1386388" y="194372"/>
                    <a:pt x="1384502" y="196259"/>
                  </a:cubicBezTo>
                  <a:cubicBezTo>
                    <a:pt x="1382615" y="198145"/>
                    <a:pt x="1380057" y="199205"/>
                    <a:pt x="1377389" y="199205"/>
                  </a:cubicBezTo>
                  <a:lnTo>
                    <a:pt x="10059" y="199205"/>
                  </a:lnTo>
                  <a:cubicBezTo>
                    <a:pt x="7392" y="199205"/>
                    <a:pt x="4833" y="198145"/>
                    <a:pt x="2946" y="196259"/>
                  </a:cubicBezTo>
                  <a:cubicBezTo>
                    <a:pt x="1060" y="194372"/>
                    <a:pt x="0" y="191813"/>
                    <a:pt x="0" y="189145"/>
                  </a:cubicBezTo>
                  <a:lnTo>
                    <a:pt x="0" y="10059"/>
                  </a:lnTo>
                  <a:cubicBezTo>
                    <a:pt x="0" y="7392"/>
                    <a:pt x="1060" y="4833"/>
                    <a:pt x="2946" y="2946"/>
                  </a:cubicBezTo>
                  <a:cubicBezTo>
                    <a:pt x="4833" y="1060"/>
                    <a:pt x="7392" y="0"/>
                    <a:pt x="10059" y="0"/>
                  </a:cubicBezTo>
                  <a:close/>
                </a:path>
              </a:pathLst>
            </a:custGeom>
            <a:solidFill>
              <a:srgbClr val="D1EDFF"/>
            </a:solidFill>
          </p:spPr>
        </p:sp>
        <p:sp>
          <p:nvSpPr>
            <p:cNvPr name="TextBox 6" id="6"/>
            <p:cNvSpPr txBox="true"/>
            <p:nvPr/>
          </p:nvSpPr>
          <p:spPr>
            <a:xfrm>
              <a:off x="0" y="-38100"/>
              <a:ext cx="1387448" cy="237305"/>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2227771" y="7690056"/>
            <a:ext cx="15031529" cy="2313569"/>
            <a:chOff x="0" y="0"/>
            <a:chExt cx="1387448" cy="213548"/>
          </a:xfrm>
        </p:grpSpPr>
        <p:sp>
          <p:nvSpPr>
            <p:cNvPr name="Freeform 8" id="8"/>
            <p:cNvSpPr/>
            <p:nvPr/>
          </p:nvSpPr>
          <p:spPr>
            <a:xfrm flipH="false" flipV="false" rot="0">
              <a:off x="0" y="0"/>
              <a:ext cx="1387448" cy="213548"/>
            </a:xfrm>
            <a:custGeom>
              <a:avLst/>
              <a:gdLst/>
              <a:ahLst/>
              <a:cxnLst/>
              <a:rect r="r" b="b" t="t" l="l"/>
              <a:pathLst>
                <a:path h="213548" w="1387448">
                  <a:moveTo>
                    <a:pt x="10059" y="0"/>
                  </a:moveTo>
                  <a:lnTo>
                    <a:pt x="1377389" y="0"/>
                  </a:lnTo>
                  <a:cubicBezTo>
                    <a:pt x="1380057" y="0"/>
                    <a:pt x="1382615" y="1060"/>
                    <a:pt x="1384502" y="2946"/>
                  </a:cubicBezTo>
                  <a:cubicBezTo>
                    <a:pt x="1386388" y="4833"/>
                    <a:pt x="1387448" y="7392"/>
                    <a:pt x="1387448" y="10059"/>
                  </a:cubicBezTo>
                  <a:lnTo>
                    <a:pt x="1387448" y="203489"/>
                  </a:lnTo>
                  <a:cubicBezTo>
                    <a:pt x="1387448" y="206157"/>
                    <a:pt x="1386388" y="208715"/>
                    <a:pt x="1384502" y="210602"/>
                  </a:cubicBezTo>
                  <a:cubicBezTo>
                    <a:pt x="1382615" y="212488"/>
                    <a:pt x="1380057" y="213548"/>
                    <a:pt x="1377389" y="213548"/>
                  </a:cubicBezTo>
                  <a:lnTo>
                    <a:pt x="10059" y="213548"/>
                  </a:lnTo>
                  <a:cubicBezTo>
                    <a:pt x="7392" y="213548"/>
                    <a:pt x="4833" y="212488"/>
                    <a:pt x="2946" y="210602"/>
                  </a:cubicBezTo>
                  <a:cubicBezTo>
                    <a:pt x="1060" y="208715"/>
                    <a:pt x="0" y="206157"/>
                    <a:pt x="0" y="203489"/>
                  </a:cubicBezTo>
                  <a:lnTo>
                    <a:pt x="0" y="10059"/>
                  </a:lnTo>
                  <a:cubicBezTo>
                    <a:pt x="0" y="7392"/>
                    <a:pt x="1060" y="4833"/>
                    <a:pt x="2946" y="2946"/>
                  </a:cubicBezTo>
                  <a:cubicBezTo>
                    <a:pt x="4833" y="1060"/>
                    <a:pt x="7392" y="0"/>
                    <a:pt x="10059" y="0"/>
                  </a:cubicBezTo>
                  <a:close/>
                </a:path>
              </a:pathLst>
            </a:custGeom>
            <a:solidFill>
              <a:srgbClr val="D1EDFF"/>
            </a:solidFill>
          </p:spPr>
        </p:sp>
        <p:sp>
          <p:nvSpPr>
            <p:cNvPr name="TextBox 9" id="9"/>
            <p:cNvSpPr txBox="true"/>
            <p:nvPr/>
          </p:nvSpPr>
          <p:spPr>
            <a:xfrm>
              <a:off x="0" y="-38100"/>
              <a:ext cx="1387448" cy="251648"/>
            </a:xfrm>
            <a:prstGeom prst="rect">
              <a:avLst/>
            </a:prstGeom>
          </p:spPr>
          <p:txBody>
            <a:bodyPr anchor="ctr" rtlCol="false" tIns="50800" lIns="50800" bIns="50800" rIns="50800"/>
            <a:lstStyle/>
            <a:p>
              <a:pPr algn="ctr" marL="0" indent="0" lvl="0">
                <a:lnSpc>
                  <a:spcPts val="2659"/>
                </a:lnSpc>
              </a:pPr>
            </a:p>
          </p:txBody>
        </p:sp>
      </p:grpSp>
      <p:sp>
        <p:nvSpPr>
          <p:cNvPr name="Freeform 10" id="10"/>
          <p:cNvSpPr/>
          <p:nvPr/>
        </p:nvSpPr>
        <p:spPr>
          <a:xfrm flipH="false" flipV="false" rot="0">
            <a:off x="2773154" y="5657714"/>
            <a:ext cx="952224" cy="978313"/>
          </a:xfrm>
          <a:custGeom>
            <a:avLst/>
            <a:gdLst/>
            <a:ahLst/>
            <a:cxnLst/>
            <a:rect r="r" b="b" t="t" l="l"/>
            <a:pathLst>
              <a:path h="978313" w="952224">
                <a:moveTo>
                  <a:pt x="0" y="0"/>
                </a:moveTo>
                <a:lnTo>
                  <a:pt x="952224" y="0"/>
                </a:lnTo>
                <a:lnTo>
                  <a:pt x="952224" y="978313"/>
                </a:lnTo>
                <a:lnTo>
                  <a:pt x="0" y="978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158083" y="1365905"/>
            <a:ext cx="13073588"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CO’S USED-</a:t>
            </a:r>
          </a:p>
        </p:txBody>
      </p:sp>
      <p:sp>
        <p:nvSpPr>
          <p:cNvPr name="TextBox 12" id="12"/>
          <p:cNvSpPr txBox="true"/>
          <p:nvPr/>
        </p:nvSpPr>
        <p:spPr>
          <a:xfrm rot="0">
            <a:off x="3725378" y="5482801"/>
            <a:ext cx="13322579" cy="2306452"/>
          </a:xfrm>
          <a:prstGeom prst="rect">
            <a:avLst/>
          </a:prstGeom>
        </p:spPr>
        <p:txBody>
          <a:bodyPr anchor="t" rtlCol="false" tIns="0" lIns="0" bIns="0" rIns="0">
            <a:spAutoFit/>
          </a:bodyPr>
          <a:lstStyle/>
          <a:p>
            <a:pPr algn="just">
              <a:lnSpc>
                <a:spcPts val="3059"/>
              </a:lnSpc>
            </a:pPr>
            <a:r>
              <a:rPr lang="en-US" sz="2683" b="true">
                <a:solidFill>
                  <a:srgbClr val="1C74BB"/>
                </a:solidFill>
                <a:latin typeface="Roboto Bold"/>
                <a:ea typeface="Roboto Bold"/>
                <a:cs typeface="Roboto Bold"/>
                <a:sym typeface="Roboto Bold"/>
              </a:rPr>
              <a:t>CO2 – Search Techniques</a:t>
            </a:r>
          </a:p>
          <a:p>
            <a:pPr algn="just" marL="579470" indent="-289735" lvl="1">
              <a:lnSpc>
                <a:spcPts val="3059"/>
              </a:lnSpc>
              <a:buFont typeface="Arial"/>
              <a:buChar char="•"/>
            </a:pPr>
            <a:r>
              <a:rPr lang="en-US" sz="2683">
                <a:solidFill>
                  <a:srgbClr val="1C74BB"/>
                </a:solidFill>
                <a:latin typeface="Roboto"/>
                <a:ea typeface="Roboto"/>
                <a:cs typeface="Roboto"/>
                <a:sym typeface="Roboto"/>
              </a:rPr>
              <a:t>State-Space Search (continuous scanning of video frames)</a:t>
            </a:r>
          </a:p>
          <a:p>
            <a:pPr algn="just" marL="579470" indent="-289735" lvl="1">
              <a:lnSpc>
                <a:spcPts val="3059"/>
              </a:lnSpc>
              <a:buFont typeface="Arial"/>
              <a:buChar char="•"/>
            </a:pPr>
            <a:r>
              <a:rPr lang="en-US" sz="2683">
                <a:solidFill>
                  <a:srgbClr val="1C74BB"/>
                </a:solidFill>
                <a:latin typeface="Roboto"/>
                <a:ea typeface="Roboto"/>
                <a:cs typeface="Roboto"/>
                <a:sym typeface="Roboto"/>
              </a:rPr>
              <a:t>Heuristic Search (using face position to estimate suspicious behavior)</a:t>
            </a:r>
          </a:p>
          <a:p>
            <a:pPr algn="just" marL="579470" indent="-289735" lvl="1">
              <a:lnSpc>
                <a:spcPts val="3059"/>
              </a:lnSpc>
              <a:buFont typeface="Arial"/>
              <a:buChar char="•"/>
            </a:pPr>
            <a:r>
              <a:rPr lang="en-US" sz="2683">
                <a:solidFill>
                  <a:srgbClr val="1C74BB"/>
                </a:solidFill>
                <a:latin typeface="Roboto"/>
                <a:ea typeface="Roboto"/>
                <a:cs typeface="Roboto"/>
                <a:sym typeface="Roboto"/>
              </a:rPr>
              <a:t>Search-Based Decision Making (analyzing detected faces and choosing actions)</a:t>
            </a:r>
          </a:p>
          <a:p>
            <a:pPr algn="just">
              <a:lnSpc>
                <a:spcPts val="3059"/>
              </a:lnSpc>
            </a:pPr>
          </a:p>
          <a:p>
            <a:pPr algn="just" marL="0" indent="0" lvl="0">
              <a:lnSpc>
                <a:spcPts val="3059"/>
              </a:lnSpc>
            </a:pPr>
          </a:p>
        </p:txBody>
      </p:sp>
      <p:sp>
        <p:nvSpPr>
          <p:cNvPr name="Freeform 13" id="13"/>
          <p:cNvSpPr/>
          <p:nvPr/>
        </p:nvSpPr>
        <p:spPr>
          <a:xfrm flipH="false" flipV="false" rot="0">
            <a:off x="2773154" y="8279987"/>
            <a:ext cx="952224" cy="978313"/>
          </a:xfrm>
          <a:custGeom>
            <a:avLst/>
            <a:gdLst/>
            <a:ahLst/>
            <a:cxnLst/>
            <a:rect r="r" b="b" t="t" l="l"/>
            <a:pathLst>
              <a:path h="978313" w="952224">
                <a:moveTo>
                  <a:pt x="0" y="0"/>
                </a:moveTo>
                <a:lnTo>
                  <a:pt x="952224" y="0"/>
                </a:lnTo>
                <a:lnTo>
                  <a:pt x="952224" y="978313"/>
                </a:lnTo>
                <a:lnTo>
                  <a:pt x="0" y="978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2227771" y="2611518"/>
            <a:ext cx="15031529" cy="2158175"/>
            <a:chOff x="0" y="0"/>
            <a:chExt cx="1387448" cy="199205"/>
          </a:xfrm>
        </p:grpSpPr>
        <p:sp>
          <p:nvSpPr>
            <p:cNvPr name="Freeform 15" id="15"/>
            <p:cNvSpPr/>
            <p:nvPr/>
          </p:nvSpPr>
          <p:spPr>
            <a:xfrm flipH="false" flipV="false" rot="0">
              <a:off x="0" y="0"/>
              <a:ext cx="1387448" cy="199205"/>
            </a:xfrm>
            <a:custGeom>
              <a:avLst/>
              <a:gdLst/>
              <a:ahLst/>
              <a:cxnLst/>
              <a:rect r="r" b="b" t="t" l="l"/>
              <a:pathLst>
                <a:path h="199205" w="1387448">
                  <a:moveTo>
                    <a:pt x="10059" y="0"/>
                  </a:moveTo>
                  <a:lnTo>
                    <a:pt x="1377389" y="0"/>
                  </a:lnTo>
                  <a:cubicBezTo>
                    <a:pt x="1380057" y="0"/>
                    <a:pt x="1382615" y="1060"/>
                    <a:pt x="1384502" y="2946"/>
                  </a:cubicBezTo>
                  <a:cubicBezTo>
                    <a:pt x="1386388" y="4833"/>
                    <a:pt x="1387448" y="7392"/>
                    <a:pt x="1387448" y="10059"/>
                  </a:cubicBezTo>
                  <a:lnTo>
                    <a:pt x="1387448" y="189145"/>
                  </a:lnTo>
                  <a:cubicBezTo>
                    <a:pt x="1387448" y="191813"/>
                    <a:pt x="1386388" y="194372"/>
                    <a:pt x="1384502" y="196259"/>
                  </a:cubicBezTo>
                  <a:cubicBezTo>
                    <a:pt x="1382615" y="198145"/>
                    <a:pt x="1380057" y="199205"/>
                    <a:pt x="1377389" y="199205"/>
                  </a:cubicBezTo>
                  <a:lnTo>
                    <a:pt x="10059" y="199205"/>
                  </a:lnTo>
                  <a:cubicBezTo>
                    <a:pt x="7392" y="199205"/>
                    <a:pt x="4833" y="198145"/>
                    <a:pt x="2946" y="196259"/>
                  </a:cubicBezTo>
                  <a:cubicBezTo>
                    <a:pt x="1060" y="194372"/>
                    <a:pt x="0" y="191813"/>
                    <a:pt x="0" y="189145"/>
                  </a:cubicBezTo>
                  <a:lnTo>
                    <a:pt x="0" y="10059"/>
                  </a:lnTo>
                  <a:cubicBezTo>
                    <a:pt x="0" y="7392"/>
                    <a:pt x="1060" y="4833"/>
                    <a:pt x="2946" y="2946"/>
                  </a:cubicBezTo>
                  <a:cubicBezTo>
                    <a:pt x="4833" y="1060"/>
                    <a:pt x="7392" y="0"/>
                    <a:pt x="10059" y="0"/>
                  </a:cubicBezTo>
                  <a:close/>
                </a:path>
              </a:pathLst>
            </a:custGeom>
            <a:solidFill>
              <a:srgbClr val="D1EDFF"/>
            </a:solidFill>
          </p:spPr>
        </p:sp>
        <p:sp>
          <p:nvSpPr>
            <p:cNvPr name="TextBox 16" id="16"/>
            <p:cNvSpPr txBox="true"/>
            <p:nvPr/>
          </p:nvSpPr>
          <p:spPr>
            <a:xfrm>
              <a:off x="0" y="-38100"/>
              <a:ext cx="1387448" cy="237305"/>
            </a:xfrm>
            <a:prstGeom prst="rect">
              <a:avLst/>
            </a:prstGeom>
          </p:spPr>
          <p:txBody>
            <a:bodyPr anchor="ctr" rtlCol="false" tIns="50800" lIns="50800" bIns="50800" rIns="50800"/>
            <a:lstStyle/>
            <a:p>
              <a:pPr algn="ctr" marL="0" indent="0" lvl="0">
                <a:lnSpc>
                  <a:spcPts val="2659"/>
                </a:lnSpc>
              </a:pPr>
            </a:p>
          </p:txBody>
        </p:sp>
      </p:grpSp>
      <p:sp>
        <p:nvSpPr>
          <p:cNvPr name="Freeform 17" id="17"/>
          <p:cNvSpPr/>
          <p:nvPr/>
        </p:nvSpPr>
        <p:spPr>
          <a:xfrm flipH="false" flipV="false" rot="0">
            <a:off x="2773154" y="3201449"/>
            <a:ext cx="952224" cy="978313"/>
          </a:xfrm>
          <a:custGeom>
            <a:avLst/>
            <a:gdLst/>
            <a:ahLst/>
            <a:cxnLst/>
            <a:rect r="r" b="b" t="t" l="l"/>
            <a:pathLst>
              <a:path h="978313" w="952224">
                <a:moveTo>
                  <a:pt x="0" y="0"/>
                </a:moveTo>
                <a:lnTo>
                  <a:pt x="952224" y="0"/>
                </a:lnTo>
                <a:lnTo>
                  <a:pt x="952224" y="978313"/>
                </a:lnTo>
                <a:lnTo>
                  <a:pt x="0" y="978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3725378" y="2233374"/>
            <a:ext cx="16305531" cy="3068452"/>
          </a:xfrm>
          <a:prstGeom prst="rect">
            <a:avLst/>
          </a:prstGeom>
        </p:spPr>
        <p:txBody>
          <a:bodyPr anchor="t" rtlCol="false" tIns="0" lIns="0" bIns="0" rIns="0">
            <a:spAutoFit/>
          </a:bodyPr>
          <a:lstStyle/>
          <a:p>
            <a:pPr algn="just">
              <a:lnSpc>
                <a:spcPts val="3059"/>
              </a:lnSpc>
            </a:pPr>
          </a:p>
          <a:p>
            <a:pPr algn="just">
              <a:lnSpc>
                <a:spcPts val="3059"/>
              </a:lnSpc>
            </a:pPr>
          </a:p>
          <a:p>
            <a:pPr algn="just">
              <a:lnSpc>
                <a:spcPts val="3059"/>
              </a:lnSpc>
            </a:pPr>
            <a:r>
              <a:rPr lang="en-US" sz="2683" b="true">
                <a:solidFill>
                  <a:srgbClr val="1C74BB"/>
                </a:solidFill>
                <a:latin typeface="Roboto Bold"/>
                <a:ea typeface="Roboto Bold"/>
                <a:cs typeface="Roboto Bold"/>
                <a:sym typeface="Roboto Bold"/>
              </a:rPr>
              <a:t>CO1 – AI Problem Formulation</a:t>
            </a:r>
          </a:p>
          <a:p>
            <a:pPr algn="just" marL="579470" indent="-289735" lvl="1">
              <a:lnSpc>
                <a:spcPts val="3059"/>
              </a:lnSpc>
              <a:buFont typeface="Arial"/>
              <a:buChar char="•"/>
            </a:pPr>
            <a:r>
              <a:rPr lang="en-US" sz="2683">
                <a:solidFill>
                  <a:srgbClr val="1C74BB"/>
                </a:solidFill>
                <a:latin typeface="Roboto"/>
                <a:ea typeface="Roboto"/>
                <a:cs typeface="Roboto"/>
                <a:sym typeface="Roboto"/>
              </a:rPr>
              <a:t>State Space Representation (each webcam frame represents the current state)</a:t>
            </a:r>
          </a:p>
          <a:p>
            <a:pPr algn="just" marL="579470" indent="-289735" lvl="1">
              <a:lnSpc>
                <a:spcPts val="3059"/>
              </a:lnSpc>
              <a:buFont typeface="Arial"/>
              <a:buChar char="•"/>
            </a:pPr>
            <a:r>
              <a:rPr lang="en-US" sz="2683">
                <a:solidFill>
                  <a:srgbClr val="1C74BB"/>
                </a:solidFill>
                <a:latin typeface="Roboto"/>
                <a:ea typeface="Roboto"/>
                <a:cs typeface="Roboto"/>
                <a:sym typeface="Roboto"/>
              </a:rPr>
              <a:t>Constraint Representation (one face should be visible, student should face the screen)</a:t>
            </a:r>
          </a:p>
          <a:p>
            <a:pPr algn="just" marL="579470" indent="-289735" lvl="1">
              <a:lnSpc>
                <a:spcPts val="3059"/>
              </a:lnSpc>
              <a:buFont typeface="Arial"/>
              <a:buChar char="•"/>
            </a:pPr>
            <a:r>
              <a:rPr lang="en-US" sz="2683">
                <a:solidFill>
                  <a:srgbClr val="1C74BB"/>
                </a:solidFill>
                <a:latin typeface="Roboto"/>
                <a:ea typeface="Roboto"/>
                <a:cs typeface="Roboto"/>
                <a:sym typeface="Roboto"/>
              </a:rPr>
              <a:t>Goal-Based Problem Solving (maintain fair and secure exam monitoring)</a:t>
            </a:r>
          </a:p>
          <a:p>
            <a:pPr algn="just">
              <a:lnSpc>
                <a:spcPts val="3059"/>
              </a:lnSpc>
            </a:pPr>
          </a:p>
          <a:p>
            <a:pPr algn="just" marL="0" indent="0" lvl="0">
              <a:lnSpc>
                <a:spcPts val="3059"/>
              </a:lnSpc>
            </a:pPr>
          </a:p>
        </p:txBody>
      </p:sp>
      <p:sp>
        <p:nvSpPr>
          <p:cNvPr name="TextBox 19" id="19"/>
          <p:cNvSpPr txBox="true"/>
          <p:nvPr/>
        </p:nvSpPr>
        <p:spPr>
          <a:xfrm rot="0">
            <a:off x="3725378" y="7970228"/>
            <a:ext cx="13458692" cy="3068452"/>
          </a:xfrm>
          <a:prstGeom prst="rect">
            <a:avLst/>
          </a:prstGeom>
        </p:spPr>
        <p:txBody>
          <a:bodyPr anchor="t" rtlCol="false" tIns="0" lIns="0" bIns="0" rIns="0">
            <a:spAutoFit/>
          </a:bodyPr>
          <a:lstStyle/>
          <a:p>
            <a:pPr algn="just">
              <a:lnSpc>
                <a:spcPts val="3059"/>
              </a:lnSpc>
            </a:pPr>
            <a:r>
              <a:rPr lang="en-US" sz="2683">
                <a:solidFill>
                  <a:srgbClr val="1C74BB"/>
                </a:solidFill>
                <a:latin typeface="Roboto"/>
                <a:ea typeface="Roboto"/>
                <a:cs typeface="Roboto"/>
                <a:sym typeface="Roboto"/>
              </a:rPr>
              <a:t> </a:t>
            </a:r>
            <a:r>
              <a:rPr lang="en-US" sz="2683" b="true">
                <a:solidFill>
                  <a:srgbClr val="1C74BB"/>
                </a:solidFill>
                <a:latin typeface="Roboto Bold"/>
                <a:ea typeface="Roboto Bold"/>
                <a:cs typeface="Roboto Bold"/>
                <a:sym typeface="Roboto Bold"/>
              </a:rPr>
              <a:t>CO3 – Constraint Satisfaction &amp; Reasoning</a:t>
            </a:r>
          </a:p>
          <a:p>
            <a:pPr algn="just" marL="579470" indent="-289735" lvl="1">
              <a:lnSpc>
                <a:spcPts val="3059"/>
              </a:lnSpc>
              <a:buFont typeface="Arial"/>
              <a:buChar char="•"/>
            </a:pPr>
            <a:r>
              <a:rPr lang="en-US" sz="2683">
                <a:solidFill>
                  <a:srgbClr val="1C74BB"/>
                </a:solidFill>
                <a:latin typeface="Roboto"/>
                <a:ea typeface="Roboto"/>
                <a:cs typeface="Roboto"/>
                <a:sym typeface="Roboto"/>
              </a:rPr>
              <a:t>Constraint Satisfaction Problem (CSP) (checking whether exam rules are satisfied)</a:t>
            </a:r>
          </a:p>
          <a:p>
            <a:pPr algn="just" marL="579470" indent="-289735" lvl="1">
              <a:lnSpc>
                <a:spcPts val="3059"/>
              </a:lnSpc>
              <a:buFont typeface="Arial"/>
              <a:buChar char="•"/>
            </a:pPr>
            <a:r>
              <a:rPr lang="en-US" sz="2683">
                <a:solidFill>
                  <a:srgbClr val="1C74BB"/>
                </a:solidFill>
                <a:latin typeface="Roboto"/>
                <a:ea typeface="Roboto"/>
                <a:cs typeface="Roboto"/>
                <a:sym typeface="Roboto"/>
              </a:rPr>
              <a:t>Rule-Based Reasoning (IF no face → alert, IF multiple faces → warning)</a:t>
            </a:r>
          </a:p>
          <a:p>
            <a:pPr algn="just" marL="579470" indent="-289735" lvl="1">
              <a:lnSpc>
                <a:spcPts val="3059"/>
              </a:lnSpc>
              <a:buFont typeface="Arial"/>
              <a:buChar char="•"/>
            </a:pPr>
            <a:r>
              <a:rPr lang="en-US" sz="2683">
                <a:solidFill>
                  <a:srgbClr val="1C74BB"/>
                </a:solidFill>
                <a:latin typeface="Roboto"/>
                <a:ea typeface="Roboto"/>
                <a:cs typeface="Roboto"/>
                <a:sym typeface="Roboto"/>
              </a:rPr>
              <a:t>Behavior Analysis using Constraints (detecting looking left/right and suspicious actions)</a:t>
            </a:r>
          </a:p>
          <a:p>
            <a:pPr algn="just">
              <a:lnSpc>
                <a:spcPts val="3059"/>
              </a:lnSpc>
            </a:pPr>
          </a:p>
          <a:p>
            <a:pPr algn="just">
              <a:lnSpc>
                <a:spcPts val="3059"/>
              </a:lnSpc>
            </a:pPr>
          </a:p>
          <a:p>
            <a:pPr algn="just" marL="0" indent="0" lvl="0">
              <a:lnSpc>
                <a:spcPts val="30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TextBox 2" id="2"/>
          <p:cNvSpPr txBox="true"/>
          <p:nvPr/>
        </p:nvSpPr>
        <p:spPr>
          <a:xfrm rot="0">
            <a:off x="597954" y="827830"/>
            <a:ext cx="12119466" cy="1040651"/>
          </a:xfrm>
          <a:prstGeom prst="rect">
            <a:avLst/>
          </a:prstGeom>
        </p:spPr>
        <p:txBody>
          <a:bodyPr anchor="t" rtlCol="false" tIns="0" lIns="0" bIns="0" rIns="0">
            <a:spAutoFit/>
          </a:bodyPr>
          <a:lstStyle/>
          <a:p>
            <a:pPr algn="l" marL="0" indent="0" lvl="0">
              <a:lnSpc>
                <a:spcPts val="7767"/>
              </a:lnSpc>
            </a:pPr>
            <a:r>
              <a:rPr lang="en-US" b="true" sz="8176">
                <a:gradFill>
                  <a:gsLst>
                    <a:gs pos="0">
                      <a:srgbClr val="5DE0E6">
                        <a:alpha val="100000"/>
                      </a:srgbClr>
                    </a:gs>
                    <a:gs pos="100000">
                      <a:srgbClr val="004AAD">
                        <a:alpha val="100000"/>
                      </a:srgbClr>
                    </a:gs>
                  </a:gsLst>
                  <a:lin ang="0"/>
                </a:gradFill>
                <a:latin typeface="Lora Bold"/>
                <a:ea typeface="Lora Bold"/>
                <a:cs typeface="Lora Bold"/>
                <a:sym typeface="Lora Bold"/>
              </a:rPr>
              <a:t>CONCLUSION-</a:t>
            </a:r>
          </a:p>
        </p:txBody>
      </p:sp>
      <p:sp>
        <p:nvSpPr>
          <p:cNvPr name="Freeform 3" id="3"/>
          <p:cNvSpPr/>
          <p:nvPr/>
        </p:nvSpPr>
        <p:spPr>
          <a:xfrm flipH="false" flipV="false" rot="4644591">
            <a:off x="14264060" y="-3736254"/>
            <a:ext cx="8047880" cy="8132468"/>
          </a:xfrm>
          <a:custGeom>
            <a:avLst/>
            <a:gdLst/>
            <a:ahLst/>
            <a:cxnLst/>
            <a:rect r="r" b="b" t="t" l="l"/>
            <a:pathLst>
              <a:path h="8132468" w="8047880">
                <a:moveTo>
                  <a:pt x="0" y="0"/>
                </a:moveTo>
                <a:lnTo>
                  <a:pt x="8047880" y="0"/>
                </a:lnTo>
                <a:lnTo>
                  <a:pt x="8047880" y="8132467"/>
                </a:lnTo>
                <a:lnTo>
                  <a:pt x="0" y="8132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34430">
            <a:off x="-2995240" y="5755692"/>
            <a:ext cx="8047880" cy="8132468"/>
          </a:xfrm>
          <a:custGeom>
            <a:avLst/>
            <a:gdLst/>
            <a:ahLst/>
            <a:cxnLst/>
            <a:rect r="r" b="b" t="t" l="l"/>
            <a:pathLst>
              <a:path h="8132468" w="8047880">
                <a:moveTo>
                  <a:pt x="0" y="0"/>
                </a:moveTo>
                <a:lnTo>
                  <a:pt x="8047880" y="0"/>
                </a:lnTo>
                <a:lnTo>
                  <a:pt x="8047880" y="8132468"/>
                </a:lnTo>
                <a:lnTo>
                  <a:pt x="0" y="81324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2297910" y="2469905"/>
            <a:ext cx="9774674" cy="5856955"/>
          </a:xfrm>
          <a:prstGeom prst="rect">
            <a:avLst/>
          </a:prstGeom>
        </p:spPr>
        <p:txBody>
          <a:bodyPr anchor="t" rtlCol="false" tIns="0" lIns="0" bIns="0" rIns="0">
            <a:spAutoFit/>
          </a:bodyPr>
          <a:lstStyle/>
          <a:p>
            <a:pPr algn="l" marL="0" indent="0" lvl="0">
              <a:lnSpc>
                <a:spcPts val="3068"/>
              </a:lnSpc>
            </a:pPr>
            <a:r>
              <a:rPr lang="en-US" b="true" sz="3230">
                <a:solidFill>
                  <a:srgbClr val="2D446E"/>
                </a:solidFill>
                <a:latin typeface="Roboto Bold"/>
                <a:ea typeface="Roboto Bold"/>
                <a:cs typeface="Roboto Bold"/>
                <a:sym typeface="Roboto Bold"/>
              </a:rPr>
              <a:t>Key Takeaways</a:t>
            </a:r>
          </a:p>
          <a:p>
            <a:pPr algn="l" marL="0" indent="0" lvl="0">
              <a:lnSpc>
                <a:spcPts val="3068"/>
              </a:lnSpc>
            </a:pPr>
          </a:p>
          <a:p>
            <a:pPr algn="l" marL="697358" indent="-348679" lvl="1">
              <a:lnSpc>
                <a:spcPts val="3068"/>
              </a:lnSpc>
              <a:buFont typeface="Arial"/>
              <a:buChar char="•"/>
            </a:pPr>
            <a:r>
              <a:rPr lang="en-US" sz="3230">
                <a:solidFill>
                  <a:srgbClr val="1C74BB"/>
                </a:solidFill>
                <a:latin typeface="Roboto"/>
                <a:ea typeface="Roboto"/>
                <a:cs typeface="Roboto"/>
                <a:sym typeface="Roboto"/>
              </a:rPr>
              <a:t>Automated Online Exam Monitoring</a:t>
            </a:r>
          </a:p>
          <a:p>
            <a:pPr algn="l" marL="697358" indent="-348679" lvl="1">
              <a:lnSpc>
                <a:spcPts val="3068"/>
              </a:lnSpc>
              <a:buFont typeface="Arial"/>
              <a:buChar char="•"/>
            </a:pPr>
            <a:r>
              <a:rPr lang="en-US" sz="3230">
                <a:solidFill>
                  <a:srgbClr val="1C74BB"/>
                </a:solidFill>
                <a:latin typeface="Roboto"/>
                <a:ea typeface="Roboto"/>
                <a:cs typeface="Roboto"/>
                <a:sym typeface="Roboto"/>
              </a:rPr>
              <a:t>Real-Time Suspicious Activity Detection</a:t>
            </a:r>
          </a:p>
          <a:p>
            <a:pPr algn="l" marL="697358" indent="-348679" lvl="1">
              <a:lnSpc>
                <a:spcPts val="3068"/>
              </a:lnSpc>
              <a:buFont typeface="Arial"/>
              <a:buChar char="•"/>
            </a:pPr>
            <a:r>
              <a:rPr lang="en-US" sz="3230">
                <a:solidFill>
                  <a:srgbClr val="1C74BB"/>
                </a:solidFill>
                <a:latin typeface="Roboto"/>
                <a:ea typeface="Roboto"/>
                <a:cs typeface="Roboto"/>
                <a:sym typeface="Roboto"/>
              </a:rPr>
              <a:t>Explainable AI-Based Decisions</a:t>
            </a:r>
          </a:p>
          <a:p>
            <a:pPr algn="l" marL="697358" indent="-348679" lvl="1">
              <a:lnSpc>
                <a:spcPts val="3068"/>
              </a:lnSpc>
              <a:buFont typeface="Arial"/>
              <a:buChar char="•"/>
            </a:pPr>
            <a:r>
              <a:rPr lang="en-US" sz="3230">
                <a:solidFill>
                  <a:srgbClr val="1C74BB"/>
                </a:solidFill>
                <a:latin typeface="Roboto"/>
                <a:ea typeface="Roboto"/>
                <a:cs typeface="Roboto"/>
                <a:sym typeface="Roboto"/>
              </a:rPr>
              <a:t>Improved Fairness and Security</a:t>
            </a:r>
          </a:p>
          <a:p>
            <a:pPr algn="l" marL="697358" indent="-348679" lvl="1">
              <a:lnSpc>
                <a:spcPts val="3068"/>
              </a:lnSpc>
              <a:buFont typeface="Arial"/>
              <a:buChar char="•"/>
            </a:pPr>
            <a:r>
              <a:rPr lang="en-US" sz="3230">
                <a:solidFill>
                  <a:srgbClr val="1C74BB"/>
                </a:solidFill>
                <a:latin typeface="Roboto"/>
                <a:ea typeface="Roboto"/>
                <a:cs typeface="Roboto"/>
                <a:sym typeface="Roboto"/>
              </a:rPr>
              <a:t>Reduced Human Invigilation Effort</a:t>
            </a:r>
          </a:p>
          <a:p>
            <a:pPr algn="l">
              <a:lnSpc>
                <a:spcPts val="3068"/>
              </a:lnSpc>
            </a:pPr>
          </a:p>
          <a:p>
            <a:pPr algn="l" marL="0" indent="0" lvl="0">
              <a:lnSpc>
                <a:spcPts val="3068"/>
              </a:lnSpc>
            </a:pPr>
            <a:r>
              <a:rPr lang="en-US" b="true" sz="3230">
                <a:solidFill>
                  <a:srgbClr val="2D446E"/>
                </a:solidFill>
                <a:latin typeface="Roboto Bold"/>
                <a:ea typeface="Roboto Bold"/>
                <a:cs typeface="Roboto Bold"/>
                <a:sym typeface="Roboto Bold"/>
              </a:rPr>
              <a:t>Future Enhancements</a:t>
            </a:r>
          </a:p>
          <a:p>
            <a:pPr algn="l" marL="0" indent="0" lvl="0">
              <a:lnSpc>
                <a:spcPts val="3068"/>
              </a:lnSpc>
            </a:pPr>
          </a:p>
          <a:p>
            <a:pPr algn="l" marL="697358" indent="-348679" lvl="1">
              <a:lnSpc>
                <a:spcPts val="3068"/>
              </a:lnSpc>
              <a:buFont typeface="Arial"/>
              <a:buChar char="•"/>
            </a:pPr>
            <a:r>
              <a:rPr lang="en-US" sz="3230">
                <a:solidFill>
                  <a:srgbClr val="1C74BB"/>
                </a:solidFill>
                <a:latin typeface="Roboto"/>
                <a:ea typeface="Roboto"/>
                <a:cs typeface="Roboto"/>
                <a:sym typeface="Roboto"/>
              </a:rPr>
              <a:t> </a:t>
            </a:r>
            <a:r>
              <a:rPr lang="en-US" sz="3230">
                <a:solidFill>
                  <a:srgbClr val="1C74BB"/>
                </a:solidFill>
                <a:latin typeface="Roboto"/>
                <a:ea typeface="Roboto"/>
                <a:cs typeface="Roboto"/>
                <a:sym typeface="Roboto"/>
              </a:rPr>
              <a:t>Voice Analysis</a:t>
            </a:r>
          </a:p>
          <a:p>
            <a:pPr algn="l" marL="697358" indent="-348679" lvl="1">
              <a:lnSpc>
                <a:spcPts val="3068"/>
              </a:lnSpc>
              <a:buFont typeface="Arial"/>
              <a:buChar char="•"/>
            </a:pPr>
            <a:r>
              <a:rPr lang="en-US" sz="3230">
                <a:solidFill>
                  <a:srgbClr val="1C74BB"/>
                </a:solidFill>
                <a:latin typeface="Roboto"/>
                <a:ea typeface="Roboto"/>
                <a:cs typeface="Roboto"/>
                <a:sym typeface="Roboto"/>
              </a:rPr>
              <a:t>Mobile App Integration</a:t>
            </a:r>
          </a:p>
          <a:p>
            <a:pPr algn="l" marL="697358" indent="-348679" lvl="1">
              <a:lnSpc>
                <a:spcPts val="3068"/>
              </a:lnSpc>
              <a:buFont typeface="Arial"/>
              <a:buChar char="•"/>
            </a:pPr>
            <a:r>
              <a:rPr lang="en-US" sz="3230">
                <a:solidFill>
                  <a:srgbClr val="1C74BB"/>
                </a:solidFill>
                <a:latin typeface="Roboto"/>
                <a:ea typeface="Roboto"/>
                <a:cs typeface="Roboto"/>
                <a:sym typeface="Roboto"/>
              </a:rPr>
              <a:t>Advanced Face Recognition</a:t>
            </a:r>
          </a:p>
          <a:p>
            <a:pPr algn="l" marL="697358" indent="-348679" lvl="1">
              <a:lnSpc>
                <a:spcPts val="3068"/>
              </a:lnSpc>
              <a:buFont typeface="Arial"/>
              <a:buChar char="•"/>
            </a:pPr>
            <a:r>
              <a:rPr lang="en-US" sz="3230">
                <a:solidFill>
                  <a:srgbClr val="1C74BB"/>
                </a:solidFill>
                <a:latin typeface="Roboto"/>
                <a:ea typeface="Roboto"/>
                <a:cs typeface="Roboto"/>
                <a:sym typeface="Roboto"/>
              </a:rPr>
              <a:t>Cloud-Based Monitoring Dashboard</a:t>
            </a:r>
          </a:p>
          <a:p>
            <a:pPr algn="l" marL="0" indent="0" lvl="0">
              <a:lnSpc>
                <a:spcPts val="3716"/>
              </a:lnSpc>
            </a:pPr>
          </a:p>
        </p:txBody>
      </p:sp>
      <p:sp>
        <p:nvSpPr>
          <p:cNvPr name="Freeform 6" id="6"/>
          <p:cNvSpPr/>
          <p:nvPr/>
        </p:nvSpPr>
        <p:spPr>
          <a:xfrm flipH="false" flipV="false" rot="0">
            <a:off x="12072584" y="5265808"/>
            <a:ext cx="5490803" cy="4598105"/>
          </a:xfrm>
          <a:custGeom>
            <a:avLst/>
            <a:gdLst/>
            <a:ahLst/>
            <a:cxnLst/>
            <a:rect r="r" b="b" t="t" l="l"/>
            <a:pathLst>
              <a:path h="4598105" w="5490803">
                <a:moveTo>
                  <a:pt x="0" y="0"/>
                </a:moveTo>
                <a:lnTo>
                  <a:pt x="5490803" y="0"/>
                </a:lnTo>
                <a:lnTo>
                  <a:pt x="5490803" y="4598104"/>
                </a:lnTo>
                <a:lnTo>
                  <a:pt x="0" y="4598104"/>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DAHKRZh5SCg</dc:identifier>
  <dcterms:modified xsi:type="dcterms:W3CDTF">2011-08-01T06:04:30Z</dcterms:modified>
  <cp:revision>1</cp:revision>
  <dc:title>Intelligent Exam Proctoring System</dc:title>
</cp:coreProperties>
</file>